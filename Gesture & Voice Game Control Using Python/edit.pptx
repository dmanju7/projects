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eg"/>
  <Override PartName="/ppt/media/image5.jpg" ContentType="image/jpeg"/>
  <Override PartName="/ppt/media/image6.jpg" ContentType="image/jpeg"/>
  <Override PartName="/ppt/media/image8.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9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6" r:id="rId11"/>
    <p:sldId id="264" r:id="rId12"/>
    <p:sldId id="268" r:id="rId13"/>
    <p:sldId id="265" r:id="rId14"/>
    <p:sldId id="270" r:id="rId15"/>
    <p:sldId id="269" r:id="rId16"/>
    <p:sldId id="271" r:id="rId17"/>
    <p:sldId id="278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>
      <p:cViewPr>
        <p:scale>
          <a:sx n="75" d="100"/>
          <a:sy n="75" d="100"/>
        </p:scale>
        <p:origin x="965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209C81-21B1-4655-93CD-74A9CCA7F3ED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8EC7C-09C5-42EB-9AD0-522FD8DBB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070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B3494-A38E-022D-6F08-5055A2969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AC5B7-B2F7-0E82-9906-93EDD54DE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59108-55F9-894C-2A18-59ECB18E2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30B56-0425-7B04-182C-061313D28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8EC7C-09C5-42EB-9AD0-522FD8DBB25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000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8EC7C-09C5-42EB-9AD0-522FD8DBB25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96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12EF0-3A23-45BF-9793-52D995AE8DAA}" type="datetime4">
              <a:rPr lang="en-US" smtClean="0"/>
              <a:t>November 21, 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06680">
              <a:lnSpc>
                <a:spcPts val="11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673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618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4"/>
                </a:lnTo>
                <a:lnTo>
                  <a:pt x="12192000" y="67054"/>
                </a:lnTo>
                <a:lnTo>
                  <a:pt x="12192000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533" y="1733932"/>
            <a:ext cx="9966960" cy="7620"/>
          </a:xfrm>
          <a:custGeom>
            <a:avLst/>
            <a:gdLst/>
            <a:ahLst/>
            <a:cxnLst/>
            <a:rect l="l" t="t" r="r" b="b"/>
            <a:pathLst>
              <a:path w="9966960" h="7619">
                <a:moveTo>
                  <a:pt x="9966960" y="0"/>
                </a:moveTo>
                <a:lnTo>
                  <a:pt x="0" y="0"/>
                </a:lnTo>
                <a:lnTo>
                  <a:pt x="0" y="7618"/>
                </a:lnTo>
                <a:lnTo>
                  <a:pt x="9966960" y="7618"/>
                </a:lnTo>
                <a:lnTo>
                  <a:pt x="996696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9487" y="286385"/>
            <a:ext cx="1536192" cy="1450847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760" y="634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6856476"/>
                </a:moveTo>
                <a:lnTo>
                  <a:pt x="12190476" y="6856476"/>
                </a:lnTo>
                <a:lnTo>
                  <a:pt x="12190476" y="0"/>
                </a:lnTo>
                <a:lnTo>
                  <a:pt x="0" y="0"/>
                </a:lnTo>
                <a:lnTo>
                  <a:pt x="0" y="685647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55532-813B-47BE-9AFB-96C7957E8B37}" type="datetime4">
              <a:rPr lang="en-US" smtClean="0"/>
              <a:t>November 21, 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06680">
              <a:lnSpc>
                <a:spcPts val="11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5EA2A-C259-47D1-A265-9CC52A24BC92}" type="datetime4">
              <a:rPr lang="en-US" smtClean="0"/>
              <a:t>November 21, 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06680">
              <a:lnSpc>
                <a:spcPts val="11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7DE01-E6A5-4B47-9F67-2321A3686ED7}" type="datetime4">
              <a:rPr lang="en-US" smtClean="0"/>
              <a:t>November 21, 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06680">
              <a:lnSpc>
                <a:spcPts val="11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309CD-5771-4ECF-9503-4348D7C3FE43}" type="datetime4">
              <a:rPr lang="en-US" smtClean="0"/>
              <a:t>November 21, 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06680">
              <a:lnSpc>
                <a:spcPts val="11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673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618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4"/>
                </a:lnTo>
                <a:lnTo>
                  <a:pt x="12192000" y="67054"/>
                </a:lnTo>
                <a:lnTo>
                  <a:pt x="12192000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533" y="1733932"/>
            <a:ext cx="9966960" cy="7620"/>
          </a:xfrm>
          <a:custGeom>
            <a:avLst/>
            <a:gdLst/>
            <a:ahLst/>
            <a:cxnLst/>
            <a:rect l="l" t="t" r="r" b="b"/>
            <a:pathLst>
              <a:path w="9966960" h="7619">
                <a:moveTo>
                  <a:pt x="9966960" y="0"/>
                </a:moveTo>
                <a:lnTo>
                  <a:pt x="0" y="0"/>
                </a:lnTo>
                <a:lnTo>
                  <a:pt x="0" y="7618"/>
                </a:lnTo>
                <a:lnTo>
                  <a:pt x="9966960" y="7618"/>
                </a:lnTo>
                <a:lnTo>
                  <a:pt x="996696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7063" y="242061"/>
            <a:ext cx="6719697" cy="1433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95146" y="1901698"/>
            <a:ext cx="9841230" cy="2965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7B0A7-8ABB-423C-99C8-D1B73A94037C}" type="datetime4">
              <a:rPr lang="en-US" smtClean="0"/>
              <a:t>November 21, 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54257" y="6576771"/>
            <a:ext cx="226060" cy="1645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06680">
              <a:lnSpc>
                <a:spcPts val="11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mediapipe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lphacephei.com/vosk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13612" y="3309400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847" y="350393"/>
            <a:ext cx="1520953" cy="102120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357117" y="479805"/>
            <a:ext cx="5316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5" dirty="0">
                <a:solidFill>
                  <a:srgbClr val="000000"/>
                </a:solidFill>
                <a:latin typeface="Times New Roman"/>
                <a:cs typeface="Times New Roman"/>
              </a:rPr>
              <a:t>VISVESVARAYA</a:t>
            </a:r>
            <a:r>
              <a:rPr sz="1800" b="1" spc="-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TECHNOLOGICAL</a:t>
            </a:r>
            <a:r>
              <a:rPr sz="1800" b="1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UNIVERSITY</a:t>
            </a:r>
            <a:endParaRPr sz="1800">
              <a:latin typeface="Times New Roman"/>
              <a:cs typeface="Times New Roman"/>
            </a:endParaRPr>
          </a:p>
          <a:p>
            <a:pPr marL="167005" algn="ctr">
              <a:lnSpc>
                <a:spcPct val="100000"/>
              </a:lnSpc>
            </a:pPr>
            <a:r>
              <a:rPr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Belagavi</a:t>
            </a:r>
            <a:r>
              <a:rPr sz="1800" b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sz="18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0000"/>
                </a:solidFill>
                <a:latin typeface="Times New Roman"/>
                <a:cs typeface="Times New Roman"/>
              </a:rPr>
              <a:t>590</a:t>
            </a:r>
            <a:r>
              <a:rPr sz="1800" b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018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51561" y="1691695"/>
            <a:ext cx="4516755" cy="5891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62025" algn="l">
              <a:lnSpc>
                <a:spcPct val="130100"/>
              </a:lnSpc>
              <a:spcBef>
                <a:spcPts val="100"/>
              </a:spcBef>
            </a:pPr>
            <a:r>
              <a:rPr sz="32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BAI586</a:t>
            </a:r>
            <a:r>
              <a:rPr sz="3200" b="1" spc="-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32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3200" b="1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spc="-60" dirty="0">
                <a:solidFill>
                  <a:srgbClr val="404040"/>
                </a:solidFill>
                <a:latin typeface="Times New Roman"/>
                <a:cs typeface="Times New Roman"/>
              </a:rPr>
              <a:t>Mini</a:t>
            </a:r>
            <a:r>
              <a:rPr sz="2800" b="1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lang="en-GB" sz="2800" b="1" spc="-8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60347" y="3334636"/>
            <a:ext cx="5410200" cy="1970411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spcBef>
                <a:spcPts val="965"/>
              </a:spcBef>
            </a:pPr>
            <a:r>
              <a:rPr lang="en-IN" sz="2400" b="1" spc="-10" dirty="0">
                <a:solidFill>
                  <a:srgbClr val="168DB9"/>
                </a:solidFill>
                <a:latin typeface="Times New Roman"/>
                <a:cs typeface="Times New Roman"/>
              </a:rPr>
              <a:t>Presented</a:t>
            </a:r>
            <a:r>
              <a:rPr lang="en-IN" sz="2400" b="1" spc="-35" dirty="0">
                <a:solidFill>
                  <a:srgbClr val="168DB9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25" dirty="0">
                <a:solidFill>
                  <a:srgbClr val="168DB9"/>
                </a:solidFill>
                <a:latin typeface="Times New Roman"/>
                <a:cs typeface="Times New Roman"/>
              </a:rPr>
              <a:t>By:</a:t>
            </a:r>
          </a:p>
          <a:p>
            <a:pPr marL="12700"/>
            <a:r>
              <a:rPr lang="en-IN" sz="2400" b="1" dirty="0">
                <a:solidFill>
                  <a:srgbClr val="168DB9"/>
                </a:solidFill>
                <a:latin typeface="Times New Roman"/>
                <a:cs typeface="Times New Roman"/>
              </a:rPr>
              <a:t>Suchithra</a:t>
            </a:r>
            <a:r>
              <a:rPr lang="en-IN" sz="2400" b="1" spc="-15" dirty="0">
                <a:solidFill>
                  <a:srgbClr val="168DB9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168DB9"/>
                </a:solidFill>
                <a:latin typeface="Times New Roman"/>
                <a:cs typeface="Times New Roman"/>
              </a:rPr>
              <a:t>A</a:t>
            </a:r>
            <a:r>
              <a:rPr lang="en-IN" sz="2400" b="1" spc="-15" dirty="0">
                <a:solidFill>
                  <a:srgbClr val="168DB9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168DB9"/>
                </a:solidFill>
                <a:latin typeface="Times New Roman"/>
                <a:cs typeface="Times New Roman"/>
              </a:rPr>
              <a:t>U</a:t>
            </a:r>
            <a:r>
              <a:rPr lang="en-IN" sz="2400" b="1" spc="-15" dirty="0">
                <a:solidFill>
                  <a:srgbClr val="168DB9"/>
                </a:solidFill>
                <a:latin typeface="Times New Roman"/>
                <a:cs typeface="Times New Roman"/>
              </a:rPr>
              <a:t>                   </a:t>
            </a:r>
            <a:r>
              <a:rPr lang="en-IN" sz="2400" b="1" spc="-10" dirty="0">
                <a:solidFill>
                  <a:srgbClr val="168DB9"/>
                </a:solidFill>
                <a:latin typeface="Times New Roman"/>
                <a:cs typeface="Times New Roman"/>
              </a:rPr>
              <a:t>1AY23AI121</a:t>
            </a:r>
          </a:p>
          <a:p>
            <a:pPr marL="12700"/>
            <a:r>
              <a:rPr lang="en-IN" sz="2400" b="1" spc="-20" dirty="0">
                <a:solidFill>
                  <a:srgbClr val="168DB9"/>
                </a:solidFill>
                <a:latin typeface="Times New Roman"/>
                <a:cs typeface="Times New Roman"/>
              </a:rPr>
              <a:t>Dasarapalli</a:t>
            </a:r>
            <a:r>
              <a:rPr lang="en-IN" sz="2400" b="1" spc="35" dirty="0">
                <a:solidFill>
                  <a:srgbClr val="168DB9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20" dirty="0">
                <a:solidFill>
                  <a:srgbClr val="168DB9"/>
                </a:solidFill>
                <a:latin typeface="Times New Roman"/>
                <a:cs typeface="Times New Roman"/>
              </a:rPr>
              <a:t>Manjunatha</a:t>
            </a:r>
            <a:r>
              <a:rPr lang="en-IN" sz="2400" b="1" spc="40" dirty="0">
                <a:solidFill>
                  <a:srgbClr val="168DB9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10" dirty="0">
                <a:solidFill>
                  <a:srgbClr val="168DB9"/>
                </a:solidFill>
                <a:latin typeface="Times New Roman"/>
                <a:cs typeface="Times New Roman"/>
              </a:rPr>
              <a:t>1AY24AI401</a:t>
            </a:r>
            <a:endParaRPr lang="en-IN" sz="2400" dirty="0">
              <a:latin typeface="Times New Roman"/>
              <a:cs typeface="Times New Roman"/>
            </a:endParaRPr>
          </a:p>
          <a:p>
            <a:pPr marL="12700" marR="5080">
              <a:spcBef>
                <a:spcPts val="20"/>
              </a:spcBef>
            </a:pPr>
            <a:r>
              <a:rPr lang="en-IN" sz="2400" b="1" dirty="0">
                <a:solidFill>
                  <a:srgbClr val="168DB9"/>
                </a:solidFill>
                <a:latin typeface="Times New Roman"/>
                <a:cs typeface="Times New Roman"/>
              </a:rPr>
              <a:t>Sahil</a:t>
            </a:r>
            <a:r>
              <a:rPr lang="en-IN" sz="2400" b="1" spc="-25" dirty="0">
                <a:solidFill>
                  <a:srgbClr val="168DB9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168DB9"/>
                </a:solidFill>
                <a:latin typeface="Times New Roman"/>
                <a:cs typeface="Times New Roman"/>
              </a:rPr>
              <a:t>P</a:t>
            </a:r>
            <a:r>
              <a:rPr lang="en-IN" sz="2400" b="1" spc="-25" dirty="0">
                <a:solidFill>
                  <a:srgbClr val="168DB9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168DB9"/>
                </a:solidFill>
                <a:latin typeface="Times New Roman"/>
                <a:cs typeface="Times New Roman"/>
              </a:rPr>
              <a:t>Malge</a:t>
            </a:r>
            <a:r>
              <a:rPr lang="en-IN" sz="2400" b="1" spc="-20" dirty="0">
                <a:solidFill>
                  <a:srgbClr val="168DB9"/>
                </a:solidFill>
                <a:latin typeface="Times New Roman"/>
                <a:cs typeface="Times New Roman"/>
              </a:rPr>
              <a:t>                    </a:t>
            </a:r>
            <a:r>
              <a:rPr lang="en-IN" sz="2400" b="1" spc="-10" dirty="0">
                <a:solidFill>
                  <a:srgbClr val="168DB9"/>
                </a:solidFill>
                <a:latin typeface="Times New Roman"/>
                <a:cs typeface="Times New Roman"/>
              </a:rPr>
              <a:t>1AY24AI407</a:t>
            </a:r>
          </a:p>
          <a:p>
            <a:pPr marL="12700" marR="5080">
              <a:spcBef>
                <a:spcPts val="20"/>
              </a:spcBef>
            </a:pPr>
            <a:r>
              <a:rPr lang="en-IN" sz="2400" b="1" dirty="0">
                <a:solidFill>
                  <a:srgbClr val="168DB9"/>
                </a:solidFill>
                <a:latin typeface="Times New Roman"/>
                <a:cs typeface="Times New Roman"/>
              </a:rPr>
              <a:t>Sangamesh</a:t>
            </a:r>
            <a:r>
              <a:rPr lang="en-IN" sz="2400" b="1" spc="-35" dirty="0">
                <a:solidFill>
                  <a:srgbClr val="168DB9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168DB9"/>
                </a:solidFill>
                <a:latin typeface="Times New Roman"/>
                <a:cs typeface="Times New Roman"/>
              </a:rPr>
              <a:t>Nandi            </a:t>
            </a:r>
            <a:r>
              <a:rPr lang="en-IN" sz="2400" b="1" spc="-10" dirty="0">
                <a:solidFill>
                  <a:srgbClr val="168DB9"/>
                </a:solidFill>
                <a:latin typeface="Times New Roman"/>
                <a:cs typeface="Times New Roman"/>
              </a:rPr>
              <a:t>1AY24AI408</a:t>
            </a:r>
            <a:endParaRPr lang="en-IN" sz="24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83653" y="3428999"/>
            <a:ext cx="30480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/>
            <a:r>
              <a:rPr sz="2400" b="1" spc="-10" dirty="0">
                <a:solidFill>
                  <a:srgbClr val="168DB9"/>
                </a:solidFill>
                <a:latin typeface="Times New Roman"/>
                <a:cs typeface="Times New Roman"/>
              </a:rPr>
              <a:t>Under</a:t>
            </a:r>
            <a:r>
              <a:rPr sz="2400" b="1" spc="-85" dirty="0">
                <a:solidFill>
                  <a:srgbClr val="168DB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68DB9"/>
                </a:solidFill>
                <a:latin typeface="Times New Roman"/>
                <a:cs typeface="Times New Roman"/>
              </a:rPr>
              <a:t>the</a:t>
            </a:r>
            <a:r>
              <a:rPr sz="2400" b="1" spc="-55" dirty="0">
                <a:solidFill>
                  <a:srgbClr val="168DB9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168DB9"/>
                </a:solidFill>
                <a:latin typeface="Times New Roman"/>
                <a:cs typeface="Times New Roman"/>
              </a:rPr>
              <a:t>Guidance</a:t>
            </a:r>
            <a:r>
              <a:rPr sz="2400" b="1" spc="-50" dirty="0">
                <a:solidFill>
                  <a:srgbClr val="168DB9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168DB9"/>
                </a:solidFill>
                <a:latin typeface="Times New Roman"/>
                <a:cs typeface="Times New Roman"/>
              </a:rPr>
              <a:t>of </a:t>
            </a:r>
            <a:r>
              <a:rPr sz="2400" b="1" dirty="0">
                <a:solidFill>
                  <a:srgbClr val="168DB9"/>
                </a:solidFill>
                <a:latin typeface="Times New Roman"/>
                <a:cs typeface="Times New Roman"/>
              </a:rPr>
              <a:t>Dr.</a:t>
            </a:r>
            <a:r>
              <a:rPr lang="en-IN" sz="2400" b="1" dirty="0">
                <a:solidFill>
                  <a:srgbClr val="168DB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68DB9"/>
                </a:solidFill>
                <a:latin typeface="Times New Roman"/>
                <a:cs typeface="Times New Roman"/>
              </a:rPr>
              <a:t>Kavitha</a:t>
            </a:r>
            <a:r>
              <a:rPr sz="2400" b="1" spc="-20" dirty="0">
                <a:solidFill>
                  <a:srgbClr val="168DB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68DB9"/>
                </a:solidFill>
                <a:latin typeface="Times New Roman"/>
                <a:cs typeface="Times New Roman"/>
              </a:rPr>
              <a:t>Nair</a:t>
            </a:r>
            <a:r>
              <a:rPr sz="2400" b="1" spc="-15" dirty="0">
                <a:solidFill>
                  <a:srgbClr val="168DB9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168DB9"/>
                </a:solidFill>
                <a:latin typeface="Times New Roman"/>
                <a:cs typeface="Times New Roman"/>
              </a:rPr>
              <a:t>R </a:t>
            </a:r>
            <a:r>
              <a:rPr sz="2400" b="1" dirty="0">
                <a:solidFill>
                  <a:srgbClr val="168DB9"/>
                </a:solidFill>
                <a:latin typeface="Times New Roman"/>
                <a:cs typeface="Times New Roman"/>
              </a:rPr>
              <a:t>Assistant</a:t>
            </a:r>
            <a:r>
              <a:rPr sz="2400" b="1" spc="-10" dirty="0">
                <a:solidFill>
                  <a:srgbClr val="168DB9"/>
                </a:solidFill>
                <a:latin typeface="Times New Roman"/>
                <a:cs typeface="Times New Roman"/>
              </a:rPr>
              <a:t> Professor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0709E4-F60D-4FD4-B438-B93943F19C17}"/>
              </a:ext>
            </a:extLst>
          </p:cNvPr>
          <p:cNvSpPr txBox="1"/>
          <p:nvPr/>
        </p:nvSpPr>
        <p:spPr>
          <a:xfrm>
            <a:off x="1231105" y="2255728"/>
            <a:ext cx="987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 &amp; Voice Game Control Using Python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43B06AD-F184-F144-4F6E-1E1E342625F0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295400" y="6524604"/>
            <a:ext cx="1066800" cy="161583"/>
          </a:xfrm>
        </p:spPr>
        <p:txBody>
          <a:bodyPr/>
          <a:lstStyle/>
          <a:p>
            <a:fld id="{B7F1E6AD-51C6-44C2-9713-1B37F598E735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3090AD2-E399-13AF-8ADD-0C5FA772B9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1</a:t>
            </a:fld>
            <a:endParaRPr lang="en-IN"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A4AE41A-800E-5266-9E9D-F52BC1E31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0692BCB-A0B8-775F-5065-BCB8290D43A7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6A8AB31D-FB4E-54D2-9F57-EF46B60A6252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623AECB-931B-33BF-481E-B64A815F15FF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DE6B3F87-8320-5DB8-8808-41861A471321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09A697A5-5F21-0D59-B22F-7448444D3617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A739968F-D4B6-BF89-C5A5-63A67DE506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02557DCF-BF0B-702B-2504-7651C035B5E1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845C3A50-147E-AD6B-628D-6CFD19E43961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8897F109-55C4-34F9-1E41-304ACF7AAD40}"/>
              </a:ext>
            </a:extLst>
          </p:cNvPr>
          <p:cNvSpPr txBox="1">
            <a:spLocks/>
          </p:cNvSpPr>
          <p:nvPr/>
        </p:nvSpPr>
        <p:spPr>
          <a:xfrm>
            <a:off x="1174496" y="281813"/>
            <a:ext cx="8826754" cy="1188529"/>
          </a:xfrm>
          <a:prstGeom prst="rect">
            <a:avLst/>
          </a:prstGeom>
        </p:spPr>
        <p:txBody>
          <a:bodyPr vert="horz" wrap="square" lIns="0" tIns="689355" rIns="0" bIns="0" rtlCol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3200" spc="-10" dirty="0">
                <a:latin typeface="Times New Roman"/>
                <a:cs typeface="Times New Roman"/>
              </a:rPr>
              <a:t>Content</a:t>
            </a:r>
          </a:p>
        </p:txBody>
      </p:sp>
      <p:sp>
        <p:nvSpPr>
          <p:cNvPr id="23" name="object 3">
            <a:extLst>
              <a:ext uri="{FF2B5EF4-FFF2-40B4-BE49-F238E27FC236}">
                <a16:creationId xmlns:a16="http://schemas.microsoft.com/office/drawing/2014/main" id="{549C10C4-D360-47F9-D150-A52CAB0C1ACC}"/>
              </a:ext>
            </a:extLst>
          </p:cNvPr>
          <p:cNvSpPr txBox="1"/>
          <p:nvPr/>
        </p:nvSpPr>
        <p:spPr>
          <a:xfrm>
            <a:off x="1174522" y="1496373"/>
            <a:ext cx="3257397" cy="4194097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1265"/>
              </a:spcBef>
              <a:buAutoNum type="arabicPeriod"/>
              <a:tabLst>
                <a:tab pos="250825" algn="l"/>
              </a:tabLst>
            </a:pP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Abstract</a:t>
            </a:r>
            <a:endParaRPr sz="2400" dirty="0">
              <a:latin typeface="Times New Roman"/>
              <a:cs typeface="Times New Roman"/>
            </a:endParaRPr>
          </a:p>
          <a:p>
            <a:pPr marL="264795" indent="-252095">
              <a:lnSpc>
                <a:spcPct val="100000"/>
              </a:lnSpc>
              <a:spcBef>
                <a:spcPts val="1165"/>
              </a:spcBef>
              <a:buAutoNum type="arabicPeriod"/>
              <a:tabLst>
                <a:tab pos="264795" algn="l"/>
              </a:tabLst>
            </a:pP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Introduction</a:t>
            </a:r>
            <a:endParaRPr sz="2400" dirty="0">
              <a:latin typeface="Times New Roman"/>
              <a:cs typeface="Times New Roman"/>
            </a:endParaRPr>
          </a:p>
          <a:p>
            <a:pPr marL="264795" indent="-252095">
              <a:lnSpc>
                <a:spcPct val="100000"/>
              </a:lnSpc>
              <a:spcBef>
                <a:spcPts val="1155"/>
              </a:spcBef>
              <a:buAutoNum type="arabicPeriod"/>
              <a:tabLst>
                <a:tab pos="264795" algn="l"/>
              </a:tabLst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Literature</a:t>
            </a:r>
            <a:r>
              <a:rPr sz="2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Survey</a:t>
            </a:r>
            <a:endParaRPr sz="2400" dirty="0">
              <a:latin typeface="Times New Roman"/>
              <a:cs typeface="Times New Roman"/>
            </a:endParaRPr>
          </a:p>
          <a:p>
            <a:pPr marL="264795" indent="-252095">
              <a:lnSpc>
                <a:spcPct val="100000"/>
              </a:lnSpc>
              <a:spcBef>
                <a:spcPts val="1165"/>
              </a:spcBef>
              <a:buAutoNum type="arabicPeriod"/>
              <a:tabLst>
                <a:tab pos="264795" algn="l"/>
              </a:tabLst>
            </a:pP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sz="240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Architecture</a:t>
            </a:r>
            <a:endParaRPr sz="2400" dirty="0">
              <a:latin typeface="Times New Roman"/>
              <a:cs typeface="Times New Roman"/>
            </a:endParaRPr>
          </a:p>
          <a:p>
            <a:pPr marL="264795" indent="-252095">
              <a:lnSpc>
                <a:spcPct val="100000"/>
              </a:lnSpc>
              <a:spcBef>
                <a:spcPts val="1165"/>
              </a:spcBef>
              <a:buAutoNum type="arabicPeriod"/>
              <a:tabLst>
                <a:tab pos="264795" algn="l"/>
              </a:tabLst>
            </a:pP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Methodology</a:t>
            </a:r>
            <a:endParaRPr sz="2400" dirty="0">
              <a:latin typeface="Times New Roman"/>
              <a:cs typeface="Times New Roman"/>
            </a:endParaRPr>
          </a:p>
          <a:p>
            <a:pPr marL="260350" indent="-247650">
              <a:lnSpc>
                <a:spcPct val="100000"/>
              </a:lnSpc>
              <a:spcBef>
                <a:spcPts val="1150"/>
              </a:spcBef>
              <a:buAutoNum type="arabicPeriod"/>
              <a:tabLst>
                <a:tab pos="260350" algn="l"/>
              </a:tabLst>
            </a:pP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Testing</a:t>
            </a:r>
            <a:endParaRPr sz="2400" dirty="0">
              <a:latin typeface="Times New Roman"/>
              <a:cs typeface="Times New Roman"/>
            </a:endParaRPr>
          </a:p>
          <a:p>
            <a:pPr marL="264795" indent="-252095">
              <a:lnSpc>
                <a:spcPct val="100000"/>
              </a:lnSpc>
              <a:spcBef>
                <a:spcPts val="1165"/>
              </a:spcBef>
              <a:buAutoNum type="arabicPeriod"/>
              <a:tabLst>
                <a:tab pos="264795" algn="l"/>
              </a:tabLst>
            </a:pP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Results</a:t>
            </a:r>
            <a:endParaRPr sz="2400" dirty="0">
              <a:latin typeface="Times New Roman"/>
              <a:cs typeface="Times New Roman"/>
            </a:endParaRPr>
          </a:p>
          <a:p>
            <a:pPr marL="264795" indent="-252095">
              <a:lnSpc>
                <a:spcPct val="100000"/>
              </a:lnSpc>
              <a:spcBef>
                <a:spcPts val="1165"/>
              </a:spcBef>
              <a:buAutoNum type="arabicPeriod"/>
              <a:tabLst>
                <a:tab pos="264795" algn="l"/>
              </a:tabLst>
            </a:pP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Demo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734D96-83F5-805E-EECD-7DF614A83348}"/>
              </a:ext>
            </a:extLst>
          </p:cNvPr>
          <p:cNvSpPr txBox="1"/>
          <p:nvPr/>
        </p:nvSpPr>
        <p:spPr>
          <a:xfrm>
            <a:off x="6483096" y="1578228"/>
            <a:ext cx="4534382" cy="15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indent="-457200">
              <a:spcBef>
                <a:spcPts val="1265"/>
              </a:spcBef>
              <a:buFont typeface="+mj-lt"/>
              <a:buAutoNum type="arabicPeriod" startAt="9"/>
              <a:tabLst>
                <a:tab pos="391160" algn="l"/>
              </a:tabLst>
            </a:pPr>
            <a:r>
              <a:rPr lang="en-IN"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Demonstration Of Prototype</a:t>
            </a:r>
          </a:p>
          <a:p>
            <a:pPr marL="469900" indent="-457200">
              <a:spcBef>
                <a:spcPts val="1265"/>
              </a:spcBef>
              <a:buFont typeface="+mj-lt"/>
              <a:buAutoNum type="arabicPeriod" startAt="9"/>
              <a:tabLst>
                <a:tab pos="391160" algn="l"/>
              </a:tabLst>
            </a:pPr>
            <a:r>
              <a:rPr lang="en-GB"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Future Works</a:t>
            </a:r>
          </a:p>
          <a:p>
            <a:pPr marL="469900" indent="-457200">
              <a:spcBef>
                <a:spcPts val="1265"/>
              </a:spcBef>
              <a:buFont typeface="+mj-lt"/>
              <a:buAutoNum type="arabicPeriod" startAt="9"/>
              <a:tabLst>
                <a:tab pos="391160" algn="l"/>
              </a:tabLst>
            </a:pPr>
            <a:r>
              <a:rPr lang="en-GB"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1992992-1871-76C1-964B-83D9860D87CF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418718" y="6546766"/>
            <a:ext cx="2804160" cy="161583"/>
          </a:xfrm>
        </p:spPr>
        <p:txBody>
          <a:bodyPr/>
          <a:lstStyle/>
          <a:p>
            <a:fld id="{0EB0E4AA-BADB-4421-8245-407932B10CA4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1D21AC6-CD78-A774-971F-9F7793954D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2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330123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8E948D-92A8-F3FE-4280-66A00C223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904352C-6BDE-12ED-6974-A243897233EB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F23950BD-2E49-31D0-3104-77F742C812E5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53C3DBC-0021-419E-9105-CC5F2BC565B3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8FDF0067-ABA1-643A-21BB-B34817510C70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5D0D2F06-DD42-99D1-B626-4617A8CDA86F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5BC87514-B837-D82C-8CF3-B10A9B99E01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609D8371-A503-F539-7C3D-ACF866C37548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2A2A66DF-C174-79EA-2363-0624C49CBB8F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D9FCE104-9353-717B-2E8B-1D0818F7507B}"/>
              </a:ext>
            </a:extLst>
          </p:cNvPr>
          <p:cNvSpPr txBox="1">
            <a:spLocks/>
          </p:cNvSpPr>
          <p:nvPr/>
        </p:nvSpPr>
        <p:spPr>
          <a:xfrm>
            <a:off x="1155954" y="273431"/>
            <a:ext cx="8826754" cy="1188529"/>
          </a:xfrm>
          <a:prstGeom prst="rect">
            <a:avLst/>
          </a:prstGeom>
        </p:spPr>
        <p:txBody>
          <a:bodyPr vert="horz" wrap="square" lIns="0" tIns="689355" rIns="0" bIns="0" rtlCol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3200" spc="-10" dirty="0">
                <a:latin typeface="Times New Roman"/>
                <a:cs typeface="Times New Roman"/>
              </a:rPr>
              <a:t>Abstract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D72090-1DE9-38CB-7041-E3895C74DA21}"/>
              </a:ext>
            </a:extLst>
          </p:cNvPr>
          <p:cNvSpPr txBox="1"/>
          <p:nvPr/>
        </p:nvSpPr>
        <p:spPr>
          <a:xfrm>
            <a:off x="1155954" y="1617862"/>
            <a:ext cx="98579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Controlling PC games requires hands-on peripherals, limiting accessibility and immersion</a:t>
            </a: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dual-mode controller using gestures and voice for hands-free game interaction </a:t>
            </a: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system that translates webcam gestures and microphone commands into keyboard actions </a:t>
            </a: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MediaPipe for hand tracking and vosk for speech recognition to trigger PyAutoGUI keyboard events </a:t>
            </a: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working prototype system that has four different control modes for different types of games.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5AD35BB2-3FBF-8302-9533-8489A828FCA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209676" y="6518911"/>
            <a:ext cx="2804160" cy="161583"/>
          </a:xfrm>
        </p:spPr>
        <p:txBody>
          <a:bodyPr/>
          <a:lstStyle/>
          <a:p>
            <a:fld id="{FAEB47A7-446C-4497-A60F-1BA0C82E121A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03FF9EB-E4E8-8378-DFED-E159DDACB20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3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514094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D61E1FB-FA8B-1BDE-69E2-F78032CA7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1EB3A19-AE28-7A5E-DBF8-3641BA353CEB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1E1CC003-7E1A-C272-9595-90A510DF5356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C1C722E-8B92-83B8-FA03-B18D75846277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9EB4FAF5-66E1-A94E-404B-8A37B5554D17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1676D65D-1ECF-E1D1-DF0C-E99210EC7CAC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3F95FD00-1D8F-20D4-8D52-047CC93887E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134750B-7FAC-B46B-E09A-EBC8B62C9942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DC271779-E710-49FA-2899-EC0061D48EA3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4B6B12A0-461D-57D8-AD1B-58CA23F5B2D2}"/>
              </a:ext>
            </a:extLst>
          </p:cNvPr>
          <p:cNvSpPr txBox="1">
            <a:spLocks/>
          </p:cNvSpPr>
          <p:nvPr/>
        </p:nvSpPr>
        <p:spPr>
          <a:xfrm>
            <a:off x="1155954" y="273431"/>
            <a:ext cx="8826754" cy="1188529"/>
          </a:xfrm>
          <a:prstGeom prst="rect">
            <a:avLst/>
          </a:prstGeom>
        </p:spPr>
        <p:txBody>
          <a:bodyPr vert="horz" wrap="square" lIns="0" tIns="689355" rIns="0" bIns="0" rtlCol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3200" spc="-10" dirty="0"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FE640B-9ABE-16BC-1419-6E4335B270AB}"/>
              </a:ext>
            </a:extLst>
          </p:cNvPr>
          <p:cNvSpPr txBox="1"/>
          <p:nvPr/>
        </p:nvSpPr>
        <p:spPr>
          <a:xfrm>
            <a:off x="1152969" y="1624342"/>
            <a:ext cx="985799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 recognition and voice recognition are both important parts of Human–Computer Interaction (HCI).</a:t>
            </a: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2400" spc="-5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400" spc="-3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sz="2400" spc="-7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spc="-4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2400" spc="-3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lang="en-US" sz="2400" spc="-4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</a:t>
            </a:r>
            <a:r>
              <a:rPr lang="en-US" sz="2400" spc="-4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</a:t>
            </a:r>
            <a:r>
              <a:rPr lang="en-US" sz="2400" spc="-4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gestures</a:t>
            </a:r>
            <a:r>
              <a:rPr lang="en-US" sz="2400" spc="-3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spc="-3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US" sz="2400" spc="-3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</a:t>
            </a:r>
            <a:r>
              <a:rPr lang="en-US" sz="2400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2400" spc="-8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400" spc="-7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SpeechRecognition</a:t>
            </a:r>
            <a:r>
              <a:rPr lang="en-US" sz="2400" spc="-6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spc="-7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PyAudio</a:t>
            </a:r>
            <a:r>
              <a:rPr lang="en-US" sz="2400" spc="-8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lang="en-US" sz="2400" spc="-8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</a:t>
            </a:r>
            <a:r>
              <a:rPr lang="en-US" sz="2400" spc="-8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commands</a:t>
            </a:r>
            <a:r>
              <a:rPr lang="en-US" sz="2400" spc="-8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spc="-7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US" sz="2400" spc="-8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</a:t>
            </a:r>
            <a:r>
              <a:rPr lang="en-US" sz="2400" spc="-8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actions.</a:t>
            </a: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4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sz="2400" spc="-3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spc="-3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spc="-2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US" sz="2400" spc="-3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spc="-1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touchless,</a:t>
            </a:r>
            <a:r>
              <a:rPr lang="en-US" sz="2400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lang="en-US" sz="2400" spc="-4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gaming</a:t>
            </a:r>
            <a:r>
              <a:rPr lang="en-US" sz="2400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678E3910-7FAB-3818-DF32-42407A7856B7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52969" y="6495979"/>
            <a:ext cx="2804160" cy="161583"/>
          </a:xfrm>
        </p:spPr>
        <p:txBody>
          <a:bodyPr/>
          <a:lstStyle/>
          <a:p>
            <a:fld id="{4BF23370-BB64-4A06-AF8D-CD7BB6AE4107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363FD8B-0AB5-EA62-6B3D-CD60EC19143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4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946389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010DFCA-6EF5-0568-BEE7-EA877B41C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0D81028-C7ED-505B-DDF0-4103C67C6610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6C4ECEA8-4712-EAB9-8F04-98B45A7E93F7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96892E9-A9D9-2922-6845-050B43D5ABFD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B06F6840-BDBB-4E9B-4CD7-9F794FCF8A48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51D24C3D-A2EB-D8BC-5E56-B7711969AC08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12A202AC-746C-F91C-E8F2-19C11051460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2CA11BFA-AD9E-7195-C9B9-A1452B57F53F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DE154BAE-1203-6761-2E18-0A61FE2FD90F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9CA0A602-FBAA-0A2A-C036-1FADE037621A}"/>
              </a:ext>
            </a:extLst>
          </p:cNvPr>
          <p:cNvSpPr txBox="1">
            <a:spLocks/>
          </p:cNvSpPr>
          <p:nvPr/>
        </p:nvSpPr>
        <p:spPr>
          <a:xfrm>
            <a:off x="1155954" y="273431"/>
            <a:ext cx="8826754" cy="1188529"/>
          </a:xfrm>
          <a:prstGeom prst="rect">
            <a:avLst/>
          </a:prstGeom>
        </p:spPr>
        <p:txBody>
          <a:bodyPr vert="horz" wrap="square" lIns="0" tIns="689355" rIns="0" bIns="0" rtlCol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3200" spc="-10" dirty="0">
                <a:latin typeface="Times New Roman"/>
                <a:cs typeface="Times New Roman"/>
              </a:rPr>
              <a:t>Literature Survey</a:t>
            </a:r>
          </a:p>
        </p:txBody>
      </p:sp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BB374D66-0CCD-17D9-B5B2-3A791D1DA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689501"/>
              </p:ext>
            </p:extLst>
          </p:nvPr>
        </p:nvGraphicFramePr>
        <p:xfrm>
          <a:off x="1175192" y="1517218"/>
          <a:ext cx="9857298" cy="42315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1024">
                  <a:extLst>
                    <a:ext uri="{9D8B030D-6E8A-4147-A177-3AD203B41FA5}">
                      <a16:colId xmlns:a16="http://schemas.microsoft.com/office/drawing/2014/main" val="3249792446"/>
                    </a:ext>
                  </a:extLst>
                </a:gridCol>
                <a:gridCol w="2727855">
                  <a:extLst>
                    <a:ext uri="{9D8B030D-6E8A-4147-A177-3AD203B41FA5}">
                      <a16:colId xmlns:a16="http://schemas.microsoft.com/office/drawing/2014/main" val="3632452932"/>
                    </a:ext>
                  </a:extLst>
                </a:gridCol>
                <a:gridCol w="3206909">
                  <a:extLst>
                    <a:ext uri="{9D8B030D-6E8A-4147-A177-3AD203B41FA5}">
                      <a16:colId xmlns:a16="http://schemas.microsoft.com/office/drawing/2014/main" val="3220414207"/>
                    </a:ext>
                  </a:extLst>
                </a:gridCol>
                <a:gridCol w="3041510">
                  <a:extLst>
                    <a:ext uri="{9D8B030D-6E8A-4147-A177-3AD203B41FA5}">
                      <a16:colId xmlns:a16="http://schemas.microsoft.com/office/drawing/2014/main" val="3708057877"/>
                    </a:ext>
                  </a:extLst>
                </a:gridCol>
              </a:tblGrid>
              <a:tr h="495879">
                <a:tc>
                  <a:txBody>
                    <a:bodyPr/>
                    <a:lstStyle/>
                    <a:p>
                      <a:pPr algn="just"/>
                      <a:r>
                        <a:rPr lang="en-GB" sz="1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</a:t>
                      </a:r>
                      <a:r>
                        <a:rPr lang="en-GB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No.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Citation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Limitation/Research gap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09972"/>
                  </a:ext>
                </a:extLst>
              </a:tr>
              <a:tr h="162349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19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IN" sz="1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9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 A B et al, "Investigating the Use of Vosk for Speech to Text in Interactive Gaming Applications," Preprints.org, 2025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9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the Vosk offline speech toolkit for real-time transcription in games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9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Measured Word Error Rate (WER) and command latency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9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Did not address the need for a stateful "hold" and "release" mechanism for commands like "gas" or "accelerate"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920212841"/>
                  </a:ext>
                </a:extLst>
              </a:tr>
              <a:tr h="1845887">
                <a:tc>
                  <a:txBody>
                    <a:bodyPr/>
                    <a:lstStyle/>
                    <a:p>
                      <a:pPr algn="just"/>
                      <a:r>
                        <a:rPr lang="en-GB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 M E et al, "Continuous hand gesture recognition: Benchmarks and methods," </a:t>
                      </a:r>
                      <a:r>
                        <a:rPr lang="en-US" sz="1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</a:t>
                      </a: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Vis Image </a:t>
                      </a:r>
                      <a:r>
                        <a:rPr lang="en-US" sz="1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</a:t>
                      </a: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2025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benchmarks for </a:t>
                      </a:r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"continuous“ gesture </a:t>
                      </a: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recognition (tracking movement over time) vs "static" (single pose) recognition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systems struggle to differentiate between a single gesture command and an intended continuous "hold" command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561955"/>
                  </a:ext>
                </a:extLst>
              </a:tr>
            </a:tbl>
          </a:graphicData>
        </a:graphic>
      </p:graphicFrame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0FD7FF5-AB0B-BA37-25B5-43C383163BD3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80179" y="6556714"/>
            <a:ext cx="2804160" cy="161583"/>
          </a:xfrm>
        </p:spPr>
        <p:txBody>
          <a:bodyPr/>
          <a:lstStyle/>
          <a:p>
            <a:fld id="{C4477989-C915-4EAB-85D7-715BC568167F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478E1C9-E8DE-86AC-9E99-65141EEAC60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5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879303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5E7B58-03C8-802B-66A8-1A226BC2A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3BF91E5-AAA9-35C0-68EA-D14F13F5FDEC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095F49A9-DE50-494B-AA2D-390780FCA251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D1291CF-BD75-F14D-B214-906638D8EFEF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414BACB0-165F-C6BB-27E4-E3E64E07D2FD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8B37C65A-2EBD-5497-930B-F7B9DD85ACC6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FAA75681-25BD-4CE3-1873-AD36FB6335E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0C5DDB3B-20CF-1B92-0BC8-82040949817C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4CBA2AF3-4D0A-2DC4-AB9A-5B19F816079A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87DB345B-74A4-9E7B-36A2-8DBC4AC62390}"/>
              </a:ext>
            </a:extLst>
          </p:cNvPr>
          <p:cNvSpPr txBox="1">
            <a:spLocks/>
          </p:cNvSpPr>
          <p:nvPr/>
        </p:nvSpPr>
        <p:spPr>
          <a:xfrm>
            <a:off x="1155954" y="273431"/>
            <a:ext cx="8826754" cy="1188529"/>
          </a:xfrm>
          <a:prstGeom prst="rect">
            <a:avLst/>
          </a:prstGeom>
        </p:spPr>
        <p:txBody>
          <a:bodyPr vert="horz" wrap="square" lIns="0" tIns="689355" rIns="0" bIns="0" rtlCol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3200" spc="-10" dirty="0">
                <a:latin typeface="Times New Roman"/>
                <a:cs typeface="Times New Roman"/>
              </a:rPr>
              <a:t>Literature Survey</a:t>
            </a:r>
          </a:p>
        </p:txBody>
      </p:sp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9492FAAD-D80A-E42B-81D9-4C12789F1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211965"/>
              </p:ext>
            </p:extLst>
          </p:nvPr>
        </p:nvGraphicFramePr>
        <p:xfrm>
          <a:off x="1175192" y="1517218"/>
          <a:ext cx="9857298" cy="45039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1024">
                  <a:extLst>
                    <a:ext uri="{9D8B030D-6E8A-4147-A177-3AD203B41FA5}">
                      <a16:colId xmlns:a16="http://schemas.microsoft.com/office/drawing/2014/main" val="3249792446"/>
                    </a:ext>
                  </a:extLst>
                </a:gridCol>
                <a:gridCol w="2727855">
                  <a:extLst>
                    <a:ext uri="{9D8B030D-6E8A-4147-A177-3AD203B41FA5}">
                      <a16:colId xmlns:a16="http://schemas.microsoft.com/office/drawing/2014/main" val="3632452932"/>
                    </a:ext>
                  </a:extLst>
                </a:gridCol>
                <a:gridCol w="3206909">
                  <a:extLst>
                    <a:ext uri="{9D8B030D-6E8A-4147-A177-3AD203B41FA5}">
                      <a16:colId xmlns:a16="http://schemas.microsoft.com/office/drawing/2014/main" val="3220414207"/>
                    </a:ext>
                  </a:extLst>
                </a:gridCol>
                <a:gridCol w="3041510">
                  <a:extLst>
                    <a:ext uri="{9D8B030D-6E8A-4147-A177-3AD203B41FA5}">
                      <a16:colId xmlns:a16="http://schemas.microsoft.com/office/drawing/2014/main" val="3708057877"/>
                    </a:ext>
                  </a:extLst>
                </a:gridCol>
              </a:tblGrid>
              <a:tr h="495879">
                <a:tc>
                  <a:txBody>
                    <a:bodyPr/>
                    <a:lstStyle/>
                    <a:p>
                      <a:pPr algn="just"/>
                      <a:r>
                        <a:rPr lang="en-GB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 No.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Citation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Limitation/Research gap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09972"/>
                  </a:ext>
                </a:extLst>
              </a:tr>
              <a:tr h="162349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IN" sz="19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IN" sz="1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9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 S </a:t>
                      </a:r>
                      <a:r>
                        <a:rPr lang="en-US" sz="19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9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al, "Gesture Based System Control Using Opencv and Mediapipe," Int J of Research and Paced Rev (IJRPR), vol 6, no 6, 2024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9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MediaPipe for 21- landmark hand tracking and OpenCV to process frames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9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focused on single, one-shot actions (like press)</a:t>
                      </a:r>
                      <a:endParaRPr lang="en-US" sz="19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920212841"/>
                  </a:ext>
                </a:extLst>
              </a:tr>
              <a:tr h="1845887">
                <a:tc>
                  <a:txBody>
                    <a:bodyPr/>
                    <a:lstStyle/>
                    <a:p>
                      <a:pPr algn="just"/>
                      <a:r>
                        <a:rPr lang="en-GB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 C Bowyer, "How can voice-controlled technology be used in interactive games for individuals with motor skill impairments?" Research Report, 2022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prototype platformer game controlled by simple voice commands like "up," "down," "left," and "right"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maps commands to discrete, one-shot actions (like a single key press)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561955"/>
                  </a:ext>
                </a:extLst>
              </a:tr>
            </a:tbl>
          </a:graphicData>
        </a:graphic>
      </p:graphicFrame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CFA171F-C554-5F5C-7AC4-0E35BDC10DF5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75192" y="6508957"/>
            <a:ext cx="2804160" cy="161583"/>
          </a:xfrm>
        </p:spPr>
        <p:txBody>
          <a:bodyPr/>
          <a:lstStyle/>
          <a:p>
            <a:fld id="{8A7745DF-3052-4720-B18E-B5DDF85F8D74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F6903B9-A07A-DAAF-04DB-E1C68CE455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6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548469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9874E4E-CAA3-0B9F-73A0-DFD47B8C8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774936F-BD15-E9CA-E150-53B1811D9CB2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D85E717F-6093-0473-4763-CE45BA57B28A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DB413ED-1D23-C981-8E8B-64B006A09CCB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08F74880-8763-F25F-1913-603B90036F5D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E0490A4B-DDFA-0E62-B50B-AC6DA1FB237F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5F75CC33-A8AD-B3B5-7DD1-EDA4AD617D4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77027B04-3008-767A-625B-C8B44A00FBB3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42F69CDC-1C01-D9DC-8356-DDBB0A1AF2AF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E19B4CD0-02CB-7BE1-CA22-01363EE388EF}"/>
              </a:ext>
            </a:extLst>
          </p:cNvPr>
          <p:cNvSpPr txBox="1">
            <a:spLocks/>
          </p:cNvSpPr>
          <p:nvPr/>
        </p:nvSpPr>
        <p:spPr>
          <a:xfrm>
            <a:off x="1155954" y="273431"/>
            <a:ext cx="8826754" cy="1188529"/>
          </a:xfrm>
          <a:prstGeom prst="rect">
            <a:avLst/>
          </a:prstGeom>
        </p:spPr>
        <p:txBody>
          <a:bodyPr vert="horz" wrap="square" lIns="0" tIns="689355" rIns="0" bIns="0" rtlCol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spc="-10" dirty="0">
                <a:latin typeface="Times New Roman"/>
                <a:cs typeface="Times New Roman"/>
              </a:rPr>
              <a:t>System Architecture</a:t>
            </a:r>
            <a:endParaRPr lang="en-IN" sz="3200" spc="-10" dirty="0">
              <a:latin typeface="Times New Roman"/>
              <a:cs typeface="Times New Roma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7BE139-BDC3-20EF-BFD3-866C431F5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524000"/>
            <a:ext cx="4191000" cy="44385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4A93E3-2C76-76AA-831D-78B8F204FE15}"/>
              </a:ext>
            </a:extLst>
          </p:cNvPr>
          <p:cNvSpPr txBox="1"/>
          <p:nvPr/>
        </p:nvSpPr>
        <p:spPr>
          <a:xfrm>
            <a:off x="4000500" y="6053695"/>
            <a:ext cx="3505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1: System architecture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C0D79A9-982A-A23F-F2E3-0838812852CC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76675" y="6514099"/>
            <a:ext cx="2804160" cy="161583"/>
          </a:xfrm>
        </p:spPr>
        <p:txBody>
          <a:bodyPr/>
          <a:lstStyle/>
          <a:p>
            <a:fld id="{231DE00B-FE58-4A04-941E-5D84C705F15C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A41AEBB-FEB4-D193-6342-2D45C2AD4E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7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086375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DC99C0-7332-2BDB-3A05-D82A647C9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A16919F-ACA6-994C-6176-CE9D5F5C4908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4F3F3A3B-055A-9541-9E49-584E1AF02E0E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D44F8CD-5847-7063-EEA7-23D309A815DF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1E477D0F-5F3F-8BE8-02E6-DA0FFB538B12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667293C0-9ABA-9AE0-1F8B-66C8799157E0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F2AB701D-8A7F-FEB7-B502-341D3982768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20FAD1EE-6372-EEB9-FFFA-0284FCF4278F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919162F6-B82D-1BB5-2E54-BA7DA7B0B336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0F2D8A80-493E-507E-60CF-49242AA0D5CE}"/>
              </a:ext>
            </a:extLst>
          </p:cNvPr>
          <p:cNvSpPr txBox="1">
            <a:spLocks/>
          </p:cNvSpPr>
          <p:nvPr/>
        </p:nvSpPr>
        <p:spPr>
          <a:xfrm>
            <a:off x="1155954" y="273431"/>
            <a:ext cx="8826754" cy="1188529"/>
          </a:xfrm>
          <a:prstGeom prst="rect">
            <a:avLst/>
          </a:prstGeom>
        </p:spPr>
        <p:txBody>
          <a:bodyPr vert="horz" wrap="square" lIns="0" tIns="689355" rIns="0" bIns="0" rtlCol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spc="-10" dirty="0">
                <a:latin typeface="Times New Roman"/>
                <a:cs typeface="Times New Roman"/>
              </a:rPr>
              <a:t>Flow Diagram</a:t>
            </a:r>
            <a:endParaRPr lang="en-IN" sz="3200" spc="-10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023F8C-7528-B7B2-BDA7-E3EDB64A3FB5}"/>
              </a:ext>
            </a:extLst>
          </p:cNvPr>
          <p:cNvSpPr txBox="1"/>
          <p:nvPr/>
        </p:nvSpPr>
        <p:spPr>
          <a:xfrm>
            <a:off x="1155954" y="1487182"/>
            <a:ext cx="9857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1C1E31-5D3A-C618-4A30-45C9ED227C1F}"/>
              </a:ext>
            </a:extLst>
          </p:cNvPr>
          <p:cNvSpPr txBox="1"/>
          <p:nvPr/>
        </p:nvSpPr>
        <p:spPr>
          <a:xfrm>
            <a:off x="4059085" y="6056617"/>
            <a:ext cx="3505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2: Flow diagram for Gesture Control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351276-0D11-36C4-AF5E-93C5FFAC5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67" r="24540"/>
          <a:stretch>
            <a:fillRect/>
          </a:stretch>
        </p:blipFill>
        <p:spPr>
          <a:xfrm>
            <a:off x="4668685" y="1503946"/>
            <a:ext cx="2286000" cy="4600222"/>
          </a:xfrm>
          <a:prstGeom prst="rect">
            <a:avLst/>
          </a:prstGeom>
        </p:spPr>
      </p:pic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46552250-CC6C-01D0-4FA0-592FA44E977E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202302" y="6495979"/>
            <a:ext cx="2804160" cy="161583"/>
          </a:xfrm>
        </p:spPr>
        <p:txBody>
          <a:bodyPr/>
          <a:lstStyle/>
          <a:p>
            <a:fld id="{35EB44F3-734F-476F-AAFC-444DE2AA31F8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17EE8B4-B928-A544-C955-4AC0B0FC8E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8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790234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9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6F5342-A544-8715-6F08-D001D8C2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1FFE1B1-CE8C-E5E5-B82F-90FC440D0AC5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79654C52-EE55-8CD3-0A32-1519EEAC5806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EAC882C-B78E-B71F-B74C-289819357E64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23099F96-9146-43A0-8C54-CDA85905D818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6EF73EB8-ADB1-1075-7162-33396F881037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A5A4665B-F72C-F51D-7FCF-D4DFE9835D1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B9106D8D-2CFD-8A6C-C65E-2556E8253B27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079479CA-2AD4-C2AC-FDC9-B1A19D4CFA06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77D64A1C-CEB2-6668-9FF9-88BCBA504043}"/>
              </a:ext>
            </a:extLst>
          </p:cNvPr>
          <p:cNvSpPr txBox="1">
            <a:spLocks/>
          </p:cNvSpPr>
          <p:nvPr/>
        </p:nvSpPr>
        <p:spPr>
          <a:xfrm>
            <a:off x="1155954" y="273431"/>
            <a:ext cx="8826754" cy="1188529"/>
          </a:xfrm>
          <a:prstGeom prst="rect">
            <a:avLst/>
          </a:prstGeom>
        </p:spPr>
        <p:txBody>
          <a:bodyPr vert="horz" wrap="square" lIns="0" tIns="689355" rIns="0" bIns="0" rtlCol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spc="-10" dirty="0">
                <a:latin typeface="Times New Roman"/>
                <a:cs typeface="Times New Roman"/>
              </a:rPr>
              <a:t>Flow Diagram</a:t>
            </a:r>
            <a:endParaRPr lang="en-IN" sz="3200" spc="-10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4CACD6-4B9A-28C4-8F28-A38157C38D0F}"/>
              </a:ext>
            </a:extLst>
          </p:cNvPr>
          <p:cNvSpPr txBox="1"/>
          <p:nvPr/>
        </p:nvSpPr>
        <p:spPr>
          <a:xfrm>
            <a:off x="1155954" y="1487182"/>
            <a:ext cx="9857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95CFB4-2EF6-B811-27FE-55DFBBEC733F}"/>
              </a:ext>
            </a:extLst>
          </p:cNvPr>
          <p:cNvSpPr txBox="1"/>
          <p:nvPr/>
        </p:nvSpPr>
        <p:spPr>
          <a:xfrm>
            <a:off x="4072971" y="6070246"/>
            <a:ext cx="3505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 Flow diagram for Voice Control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CEE7150-0475-5FB0-6666-64BFDB68C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24" r="6256"/>
          <a:stretch>
            <a:fillRect/>
          </a:stretch>
        </p:blipFill>
        <p:spPr>
          <a:xfrm>
            <a:off x="4259784" y="1543570"/>
            <a:ext cx="3352800" cy="4562475"/>
          </a:xfrm>
          <a:prstGeom prst="rect">
            <a:avLst/>
          </a:prstGeom>
        </p:spPr>
      </p:pic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B0EA55C5-B63F-48FD-1C5B-C5ED920AE28D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55954" y="6544530"/>
            <a:ext cx="2804160" cy="161583"/>
          </a:xfrm>
        </p:spPr>
        <p:txBody>
          <a:bodyPr/>
          <a:lstStyle/>
          <a:p>
            <a:fld id="{72F1E2E1-67B1-4A64-8379-EAAE5BA82E7B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7C282B-7FB1-7594-E87F-8A61C6B5B7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9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037191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D1755A3-52E4-23FB-78A4-ED28A13A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57C87B2-3605-621B-1ED6-38DFFB5244CA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13850A31-8403-0E6A-6B5E-55ABA715C517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E7F0A71-0D7A-DA90-B7D7-1FFACA8400F8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1BF79022-88C5-DB48-6E4F-B9188EFF6F89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F868DC3A-EC45-3A54-51A8-7C3AC66597CE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78DE46E2-50F9-4FE0-0170-12E83E8CC49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4EB8655-6215-67DA-F373-0C2F4BE91533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F6A05BF9-8A51-AA4A-3EDC-8C28E95CFEB4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50CBFFD3-C30F-EF4A-61F3-510824AD4464}"/>
              </a:ext>
            </a:extLst>
          </p:cNvPr>
          <p:cNvSpPr txBox="1">
            <a:spLocks/>
          </p:cNvSpPr>
          <p:nvPr/>
        </p:nvSpPr>
        <p:spPr>
          <a:xfrm>
            <a:off x="1155954" y="273431"/>
            <a:ext cx="8826754" cy="1188529"/>
          </a:xfrm>
          <a:prstGeom prst="rect">
            <a:avLst/>
          </a:prstGeom>
        </p:spPr>
        <p:txBody>
          <a:bodyPr vert="horz" wrap="square" lIns="0" tIns="689355" rIns="0" bIns="0" rtlCol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3200" spc="-10" dirty="0">
                <a:latin typeface="Times New Roman"/>
                <a:cs typeface="Times New Roman"/>
              </a:rPr>
              <a:t>Methodology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88B9BE-C081-2D4A-B685-55EAF116716B}"/>
              </a:ext>
            </a:extLst>
          </p:cNvPr>
          <p:cNvSpPr txBox="1"/>
          <p:nvPr/>
        </p:nvSpPr>
        <p:spPr>
          <a:xfrm>
            <a:off x="1155954" y="1487182"/>
            <a:ext cx="9857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58C8BA-67C4-2329-DB01-81382C2CAD95}"/>
              </a:ext>
            </a:extLst>
          </p:cNvPr>
          <p:cNvSpPr txBox="1"/>
          <p:nvPr/>
        </p:nvSpPr>
        <p:spPr>
          <a:xfrm>
            <a:off x="4072971" y="6070246"/>
            <a:ext cx="3505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4: Game control system methodology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F0BF97C-59FB-811C-775E-F4BF72FC6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979" y="1560334"/>
            <a:ext cx="4506990" cy="4506990"/>
          </a:xfrm>
          <a:prstGeom prst="rect">
            <a:avLst/>
          </a:prstGeom>
        </p:spPr>
      </p:pic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FD7C3B78-47C4-999A-B3ED-1D85F8FDD9B9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55954" y="6546766"/>
            <a:ext cx="2804160" cy="161583"/>
          </a:xfrm>
        </p:spPr>
        <p:txBody>
          <a:bodyPr/>
          <a:lstStyle/>
          <a:p>
            <a:fld id="{445B9C69-CEED-464D-B8F9-D113ED777CDE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877BB1D-0B24-23E2-D3F7-0D221B77733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54256" y="6587204"/>
            <a:ext cx="323343" cy="194596"/>
          </a:xfrm>
        </p:spPr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10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410854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8ED585-EF87-24FB-5836-30D851F57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5EE3646-AA6D-759D-D2B9-339D2365C771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86F6455A-BA74-81BD-4BE1-EE6074EB7DBE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8E31E40-674D-105F-4CAF-7406676252D9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FC74D282-C379-659E-E833-03BFE00A151A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B346A482-B01C-A4DC-46D7-5B9E127F53F4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B6F5F533-3AEA-A16F-FD15-9DA7C599107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208DBA80-D501-2850-FB22-DCD0159329B7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EF8F4F0E-B536-4D2B-98CB-CA5A9C6A9F4E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C52DAC4D-216F-33DA-62B4-900D805345B7}"/>
              </a:ext>
            </a:extLst>
          </p:cNvPr>
          <p:cNvSpPr txBox="1">
            <a:spLocks/>
          </p:cNvSpPr>
          <p:nvPr/>
        </p:nvSpPr>
        <p:spPr>
          <a:xfrm>
            <a:off x="1155954" y="273431"/>
            <a:ext cx="8826754" cy="1188529"/>
          </a:xfrm>
          <a:prstGeom prst="rect">
            <a:avLst/>
          </a:prstGeom>
        </p:spPr>
        <p:txBody>
          <a:bodyPr vert="horz" wrap="square" lIns="0" tIns="689355" rIns="0" bIns="0" rtlCol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spc="-10" dirty="0">
                <a:latin typeface="Times New Roman"/>
                <a:cs typeface="Times New Roman"/>
              </a:rPr>
              <a:t>Methodology: Gesture Control</a:t>
            </a:r>
            <a:endParaRPr lang="en-IN" sz="3200" spc="-1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1F6C44-E8E3-5159-AA98-8760CCECDA56}"/>
              </a:ext>
            </a:extLst>
          </p:cNvPr>
          <p:cNvSpPr txBox="1"/>
          <p:nvPr/>
        </p:nvSpPr>
        <p:spPr>
          <a:xfrm>
            <a:off x="1155954" y="1615035"/>
            <a:ext cx="9857994" cy="3141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1265"/>
              </a:spcBef>
              <a:buFont typeface="Wingdings" panose="05000000000000000000" pitchFamily="2" charset="2"/>
              <a:buChar char="Ø"/>
              <a:tabLst>
                <a:tab pos="26479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Tools: OpenCV, MediaPipe, PyAutoGUI</a:t>
            </a:r>
          </a:p>
          <a:p>
            <a:pPr marL="355600" indent="-342900" algn="just">
              <a:lnSpc>
                <a:spcPct val="100000"/>
              </a:lnSpc>
              <a:spcBef>
                <a:spcPts val="1265"/>
              </a:spcBef>
              <a:buFont typeface="Wingdings" panose="05000000000000000000" pitchFamily="2" charset="2"/>
              <a:buChar char="Ø"/>
              <a:tabLst>
                <a:tab pos="26479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 Algorithm (GG_2): Capture frame</a:t>
            </a:r>
          </a:p>
          <a:p>
            <a:pPr marL="355600" indent="-342900" algn="just">
              <a:lnSpc>
                <a:spcPct val="100000"/>
              </a:lnSpc>
              <a:spcBef>
                <a:spcPts val="1265"/>
              </a:spcBef>
              <a:buFont typeface="Wingdings" panose="05000000000000000000" pitchFamily="2" charset="2"/>
              <a:buChar char="Ø"/>
              <a:tabLst>
                <a:tab pos="26479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Process with mp.solutions.hands</a:t>
            </a:r>
          </a:p>
          <a:p>
            <a:pPr marL="355600" indent="-342900" algn="just">
              <a:lnSpc>
                <a:spcPct val="100000"/>
              </a:lnSpc>
              <a:spcBef>
                <a:spcPts val="1265"/>
              </a:spcBef>
              <a:buFont typeface="Wingdings" panose="05000000000000000000" pitchFamily="2" charset="2"/>
              <a:buChar char="Ø"/>
              <a:tabLst>
                <a:tab pos="26479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Check Y-coord of TIP (e.g., 8) vs DIP (e.g., 6) for 5 fingers</a:t>
            </a:r>
          </a:p>
          <a:p>
            <a:pPr marL="355600" indent="-342900" algn="just">
              <a:lnSpc>
                <a:spcPct val="100000"/>
              </a:lnSpc>
              <a:spcBef>
                <a:spcPts val="1265"/>
              </a:spcBef>
              <a:buFont typeface="Wingdings" panose="05000000000000000000" pitchFamily="2" charset="2"/>
              <a:buChar char="Ø"/>
              <a:tabLst>
                <a:tab pos="26479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detect_action maps folded fingers to key (e.g., Middle+Ring = "stop")</a:t>
            </a:r>
          </a:p>
          <a:p>
            <a:pPr marL="355600" indent="-342900" algn="just">
              <a:lnSpc>
                <a:spcPct val="100000"/>
              </a:lnSpc>
              <a:spcBef>
                <a:spcPts val="1265"/>
              </a:spcBef>
              <a:buFont typeface="Wingdings" panose="05000000000000000000" pitchFamily="2" charset="2"/>
              <a:buChar char="Ø"/>
              <a:tabLst>
                <a:tab pos="26479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press_key calls pyautogui.keyDown and sets auto-release timer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38162C03-7A59-E4ED-E472-267890D8699F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80179" y="6503777"/>
            <a:ext cx="2804160" cy="161583"/>
          </a:xfrm>
        </p:spPr>
        <p:txBody>
          <a:bodyPr/>
          <a:lstStyle/>
          <a:p>
            <a:fld id="{4EBE9D33-4AD2-463C-A599-390D155CF6C6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2CF4CFB-5225-0201-8019-0F56566842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54256" y="6482283"/>
            <a:ext cx="323343" cy="259079"/>
          </a:xfrm>
        </p:spPr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11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403089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DDBC74-25D4-4E7E-0C10-D8837FDB5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68E0E17-8D8C-CF1B-8C77-8913E2122F54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FB27E47E-B3CA-8A99-70D7-163ACCD63674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65B4DEF-CF82-6B90-D31E-A8493E8D5430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DFE561D4-FB2B-B051-7523-E8015D01EDE2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9E56E203-EAD0-3937-4104-D18D0884A404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1B3AE29C-6118-41EA-1119-BD6E34912EE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3ABF8521-D9ED-6494-6ED4-A9354DCF4163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9E03FEF5-E43D-5B02-276A-DE44027D9844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F353E3F7-3A92-31DC-B5A7-C75DDAB1FD1D}"/>
              </a:ext>
            </a:extLst>
          </p:cNvPr>
          <p:cNvSpPr txBox="1">
            <a:spLocks/>
          </p:cNvSpPr>
          <p:nvPr/>
        </p:nvSpPr>
        <p:spPr>
          <a:xfrm>
            <a:off x="1155954" y="273431"/>
            <a:ext cx="8826754" cy="1188529"/>
          </a:xfrm>
          <a:prstGeom prst="rect">
            <a:avLst/>
          </a:prstGeom>
        </p:spPr>
        <p:txBody>
          <a:bodyPr vert="horz" wrap="square" lIns="0" tIns="689355" rIns="0" bIns="0" rtlCol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3200" spc="-10" dirty="0">
                <a:latin typeface="Times New Roman"/>
                <a:cs typeface="Times New Roman"/>
              </a:rPr>
              <a:t>Methodology: Gesture Control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FF28E7-2864-309F-4892-16405E7A8123}"/>
              </a:ext>
            </a:extLst>
          </p:cNvPr>
          <p:cNvSpPr txBox="1"/>
          <p:nvPr/>
        </p:nvSpPr>
        <p:spPr>
          <a:xfrm>
            <a:off x="1152969" y="1464766"/>
            <a:ext cx="9857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FB2B6B-30C1-3519-2FC0-84CDBAD14666}"/>
              </a:ext>
            </a:extLst>
          </p:cNvPr>
          <p:cNvSpPr txBox="1"/>
          <p:nvPr/>
        </p:nvSpPr>
        <p:spPr>
          <a:xfrm>
            <a:off x="4038600" y="5516149"/>
            <a:ext cx="3505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5: MediaPipe 21 landmarks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04C11E-37A9-46A4-BF1F-15676D576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969" y="1483858"/>
            <a:ext cx="10084689" cy="3491824"/>
          </a:xfrm>
          <a:prstGeom prst="rect">
            <a:avLst/>
          </a:prstGeom>
        </p:spPr>
      </p:pic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6D132D98-9D18-E0FE-66EA-10EF63CD195E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65259" y="6546766"/>
            <a:ext cx="2804160" cy="161583"/>
          </a:xfrm>
        </p:spPr>
        <p:txBody>
          <a:bodyPr/>
          <a:lstStyle/>
          <a:p>
            <a:fld id="{C2C7EF9A-63F8-4B24-8180-AF158BA7D43E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D0E9423-E06B-0EAB-E1D6-2BF8466310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54256" y="6482283"/>
            <a:ext cx="399543" cy="259079"/>
          </a:xfrm>
        </p:spPr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12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554921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C40E4A-C351-1313-6145-26BE0CE0A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CB54CC2-71E9-A798-F547-5D8C28A5BEAB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134F1B55-52AC-7494-F6AA-1720F25E9D14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09A01B7-8FE6-1F1B-5E66-81C97FE9B3B9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8D258E93-4388-3EBC-AD3E-D222B8D6EC4E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34727266-BC70-F57C-5EA7-D97B34B949F6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C30B9C17-E45F-43FB-A821-714F5444232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B278130A-1321-E82E-2630-460194A5FDC3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8E3FB358-926E-2540-F425-384A71AFC15F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E1B970E2-3897-BB39-2CDE-9D23F376797B}"/>
              </a:ext>
            </a:extLst>
          </p:cNvPr>
          <p:cNvSpPr txBox="1">
            <a:spLocks/>
          </p:cNvSpPr>
          <p:nvPr/>
        </p:nvSpPr>
        <p:spPr>
          <a:xfrm>
            <a:off x="1155954" y="273431"/>
            <a:ext cx="8826754" cy="1188529"/>
          </a:xfrm>
          <a:prstGeom prst="rect">
            <a:avLst/>
          </a:prstGeom>
        </p:spPr>
        <p:txBody>
          <a:bodyPr vert="horz" wrap="square" lIns="0" tIns="689355" rIns="0" bIns="0" rtlCol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spc="-10" dirty="0">
                <a:latin typeface="Times New Roman"/>
                <a:cs typeface="Times New Roman"/>
              </a:rPr>
              <a:t>Methodology: Voice Control</a:t>
            </a:r>
            <a:endParaRPr lang="en-IN" sz="3200" spc="-10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002A2D-20A9-B483-FC1E-55B7BCBD74E4}"/>
              </a:ext>
            </a:extLst>
          </p:cNvPr>
          <p:cNvSpPr txBox="1"/>
          <p:nvPr/>
        </p:nvSpPr>
        <p:spPr>
          <a:xfrm>
            <a:off x="1141206" y="1618395"/>
            <a:ext cx="9857994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1265"/>
              </a:spcBef>
              <a:buFont typeface="Wingdings" panose="05000000000000000000" pitchFamily="2" charset="2"/>
              <a:buChar char="Ø"/>
              <a:tabLst>
                <a:tab pos="26479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Tools: Vosk, Sound device, PyAutoGUI </a:t>
            </a:r>
          </a:p>
          <a:p>
            <a:pPr marL="355600" indent="-342900" algn="just">
              <a:lnSpc>
                <a:spcPct val="100000"/>
              </a:lnSpc>
              <a:spcBef>
                <a:spcPts val="1265"/>
              </a:spcBef>
              <a:buFont typeface="Wingdings" panose="05000000000000000000" pitchFamily="2" charset="2"/>
              <a:buChar char="Ø"/>
              <a:tabLst>
                <a:tab pos="26479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Algorithm (VV_2): sounddevice.RawInputStream feeds audio into a queue</a:t>
            </a:r>
          </a:p>
          <a:p>
            <a:pPr marL="355600" indent="-342900" algn="just">
              <a:lnSpc>
                <a:spcPct val="100000"/>
              </a:lnSpc>
              <a:spcBef>
                <a:spcPts val="1265"/>
              </a:spcBef>
              <a:buFont typeface="Wingdings" panose="05000000000000000000" pitchFamily="2" charset="2"/>
              <a:buChar char="Ø"/>
              <a:tabLst>
                <a:tab pos="26479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vosk.Kaldi Recognizer processes data from the queue</a:t>
            </a:r>
          </a:p>
          <a:p>
            <a:pPr marL="355600" indent="-342900" algn="just">
              <a:lnSpc>
                <a:spcPct val="100000"/>
              </a:lnSpc>
              <a:spcBef>
                <a:spcPts val="1265"/>
              </a:spcBef>
              <a:buFont typeface="Wingdings" panose="05000000000000000000" pitchFamily="2" charset="2"/>
              <a:buChar char="Ø"/>
              <a:tabLst>
                <a:tab pos="26479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Partial results are checked for immediate response</a:t>
            </a:r>
          </a:p>
          <a:p>
            <a:pPr marL="355600" indent="-342900" algn="just">
              <a:lnSpc>
                <a:spcPct val="100000"/>
              </a:lnSpc>
              <a:spcBef>
                <a:spcPts val="1265"/>
              </a:spcBef>
              <a:buFont typeface="Wingdings" panose="05000000000000000000" pitchFamily="2" charset="2"/>
              <a:buChar char="Ø"/>
              <a:tabLst>
                <a:tab pos="26479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Recognized tokens are mapped to HOLD _KEYS(Key Down) or PRESS_KEY(Press)</a:t>
            </a:r>
          </a:p>
          <a:p>
            <a:pPr marL="355600" indent="-342900" algn="just">
              <a:lnSpc>
                <a:spcPct val="100000"/>
              </a:lnSpc>
              <a:spcBef>
                <a:spcPts val="1265"/>
              </a:spcBef>
              <a:buFont typeface="Wingdings" panose="05000000000000000000" pitchFamily="2" charset="2"/>
              <a:buChar char="Ø"/>
              <a:tabLst>
                <a:tab pos="26479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"stop" command releases all keys in the held dictionary</a:t>
            </a:r>
          </a:p>
          <a:p>
            <a:pPr marL="355600" indent="-342900" algn="just">
              <a:lnSpc>
                <a:spcPct val="100000"/>
              </a:lnSpc>
              <a:spcBef>
                <a:spcPts val="1265"/>
              </a:spcBef>
              <a:buFont typeface="Wingdings" panose="05000000000000000000" pitchFamily="2" charset="2"/>
              <a:buChar char="Ø"/>
              <a:tabLst>
                <a:tab pos="264795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Auto-release timer (5.0s) prevents stuck keys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C84A20BF-A3DD-F951-A28A-0BDA888CE7C3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55954" y="6576771"/>
            <a:ext cx="2804160" cy="161583"/>
          </a:xfrm>
        </p:spPr>
        <p:txBody>
          <a:bodyPr/>
          <a:lstStyle/>
          <a:p>
            <a:fld id="{D26F5042-3F5F-4B08-9C3C-907A5FE3C31F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230CCE7-9A70-10F5-AB60-5ECC2F9E085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54256" y="6482283"/>
            <a:ext cx="399543" cy="259079"/>
          </a:xfrm>
        </p:spPr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13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228664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5450B54-EBB1-2A4A-C4E3-8DA4FDFCC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7376705-E565-1A3E-7C6E-6244A5542379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457046FD-06D0-0EA0-50F8-64C5978FD15E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3A53F42-C296-B8A5-7275-38C2EB380A29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A28822BB-9A57-1C12-0AA8-00DA8D7D8E4A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C3F09D3F-9F08-AB0B-7FC9-EC8D7DA10A44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C0F2D080-A8C3-AF6E-1101-620B8A827C1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1108602-8156-3089-E5F6-B41F2C1D26F6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555618AD-3045-2E1F-B4F8-DE70A74F165E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EEFD5FCF-5934-B9EC-D5B9-C29F64438449}"/>
              </a:ext>
            </a:extLst>
          </p:cNvPr>
          <p:cNvSpPr txBox="1">
            <a:spLocks/>
          </p:cNvSpPr>
          <p:nvPr/>
        </p:nvSpPr>
        <p:spPr>
          <a:xfrm>
            <a:off x="1155954" y="273431"/>
            <a:ext cx="8826754" cy="1188529"/>
          </a:xfrm>
          <a:prstGeom prst="rect">
            <a:avLst/>
          </a:prstGeom>
        </p:spPr>
        <p:txBody>
          <a:bodyPr vert="horz" wrap="square" lIns="0" tIns="689355" rIns="0" bIns="0" rtlCol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3200" spc="-10" dirty="0">
                <a:latin typeface="Times New Roman"/>
                <a:cs typeface="Times New Roman"/>
              </a:rPr>
              <a:t>System Testing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3E2A0C4-E2D4-B3DC-0E1D-2E9E4D04E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88085"/>
              </p:ext>
            </p:extLst>
          </p:nvPr>
        </p:nvGraphicFramePr>
        <p:xfrm>
          <a:off x="1155954" y="1530984"/>
          <a:ext cx="9875520" cy="45796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1713">
                  <a:extLst>
                    <a:ext uri="{9D8B030D-6E8A-4147-A177-3AD203B41FA5}">
                      <a16:colId xmlns:a16="http://schemas.microsoft.com/office/drawing/2014/main" val="1235793775"/>
                    </a:ext>
                  </a:extLst>
                </a:gridCol>
                <a:gridCol w="1218286">
                  <a:extLst>
                    <a:ext uri="{9D8B030D-6E8A-4147-A177-3AD203B41FA5}">
                      <a16:colId xmlns:a16="http://schemas.microsoft.com/office/drawing/2014/main" val="27030600"/>
                    </a:ext>
                  </a:extLst>
                </a:gridCol>
                <a:gridCol w="2913255">
                  <a:extLst>
                    <a:ext uri="{9D8B030D-6E8A-4147-A177-3AD203B41FA5}">
                      <a16:colId xmlns:a16="http://schemas.microsoft.com/office/drawing/2014/main" val="1298813245"/>
                    </a:ext>
                  </a:extLst>
                </a:gridCol>
                <a:gridCol w="2434659">
                  <a:extLst>
                    <a:ext uri="{9D8B030D-6E8A-4147-A177-3AD203B41FA5}">
                      <a16:colId xmlns:a16="http://schemas.microsoft.com/office/drawing/2014/main" val="1303191455"/>
                    </a:ext>
                  </a:extLst>
                </a:gridCol>
                <a:gridCol w="1662922">
                  <a:extLst>
                    <a:ext uri="{9D8B030D-6E8A-4147-A177-3AD203B41FA5}">
                      <a16:colId xmlns:a16="http://schemas.microsoft.com/office/drawing/2014/main" val="4033235523"/>
                    </a:ext>
                  </a:extLst>
                </a:gridCol>
                <a:gridCol w="874685">
                  <a:extLst>
                    <a:ext uri="{9D8B030D-6E8A-4147-A177-3AD203B41FA5}">
                      <a16:colId xmlns:a16="http://schemas.microsoft.com/office/drawing/2014/main" val="312884404"/>
                    </a:ext>
                  </a:extLst>
                </a:gridCol>
              </a:tblGrid>
              <a:tr h="697485">
                <a:tc>
                  <a:txBody>
                    <a:bodyPr/>
                    <a:lstStyle/>
                    <a:p>
                      <a:pPr algn="just"/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Case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Output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Result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685047"/>
                  </a:ext>
                </a:extLst>
              </a:tr>
              <a:tr h="697485">
                <a:tc>
                  <a:txBody>
                    <a:bodyPr/>
                    <a:lstStyle/>
                    <a:p>
                      <a:pPr algn="just"/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TC-01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Gesture: User folds Thumb (while other fingers are open)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detects "up" command and triggers </a:t>
                      </a:r>
                      <a:r>
                        <a:rPr lang="en-US" sz="1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pyautogui.keyDown</a:t>
                      </a: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('up')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'up' is held down (accelerate)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4314784"/>
                  </a:ext>
                </a:extLst>
              </a:tr>
              <a:tr h="1120203">
                <a:tc>
                  <a:txBody>
                    <a:bodyPr/>
                    <a:lstStyle/>
                    <a:p>
                      <a:pPr algn="just"/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TC-02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 Testing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Voice: User says "Jump" into microphone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Vosk recognizes "jump" or "up" and triggers </a:t>
                      </a:r>
                      <a:r>
                        <a:rPr lang="en-US" sz="1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pyautogui.press</a:t>
                      </a: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('up')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key press 'up' registered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5418353"/>
                  </a:ext>
                </a:extLst>
              </a:tr>
              <a:tr h="1120203">
                <a:tc>
                  <a:txBody>
                    <a:bodyPr/>
                    <a:lstStyle/>
                    <a:p>
                      <a:pPr algn="just"/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TC-03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Gesture: User folds Middle + Ring fingers simultaneously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detects "stop" 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held keys released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069882"/>
                  </a:ext>
                </a:extLst>
              </a:tr>
            </a:tbl>
          </a:graphicData>
        </a:graphic>
      </p:graphicFrame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FFA0D56-B322-57BC-50BC-8456E40DA5BB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209676" y="6592845"/>
            <a:ext cx="2804160" cy="161583"/>
          </a:xfrm>
        </p:spPr>
        <p:txBody>
          <a:bodyPr/>
          <a:lstStyle/>
          <a:p>
            <a:fld id="{A5B7467F-C4B1-428D-8801-F543E8CCAD18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CDEE684-ACB1-8A4B-D733-FC9A83D689F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54256" y="6571615"/>
            <a:ext cx="323343" cy="169747"/>
          </a:xfrm>
        </p:spPr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14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4275210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38B8BB-D87D-8E34-A38D-E003C7D03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4DE7B0F-E8E3-9453-1ACB-954ED9952D15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142F5792-B2BD-7F9C-12DA-7365AE419F14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65E24C6-117B-862A-B777-9C07C204B57D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B859F94E-5788-0312-77ED-33270D9F5743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28C690AC-763C-AE62-471A-C4025A48FFDA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2E9794E9-C5B3-5912-A589-7C9010C84C6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2AA11FE6-74EB-94DC-6DFE-C171A4FA1CBD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8F694A1C-C859-23CC-BBD2-C4F8D148C080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4B6C1B86-594F-4F52-AF4A-55926BA23A05}"/>
              </a:ext>
            </a:extLst>
          </p:cNvPr>
          <p:cNvSpPr txBox="1">
            <a:spLocks/>
          </p:cNvSpPr>
          <p:nvPr/>
        </p:nvSpPr>
        <p:spPr>
          <a:xfrm>
            <a:off x="1155954" y="273431"/>
            <a:ext cx="8826754" cy="1188529"/>
          </a:xfrm>
          <a:prstGeom prst="rect">
            <a:avLst/>
          </a:prstGeom>
        </p:spPr>
        <p:txBody>
          <a:bodyPr vert="horz" wrap="square" lIns="0" tIns="689355" rIns="0" bIns="0" rtlCol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3200" spc="-10" dirty="0">
                <a:latin typeface="Times New Roman"/>
                <a:cs typeface="Times New Roman"/>
              </a:rPr>
              <a:t>System Testing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433B53E-75B1-1A92-EA3E-F2174F226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584261"/>
              </p:ext>
            </p:extLst>
          </p:nvPr>
        </p:nvGraphicFramePr>
        <p:xfrm>
          <a:off x="1155954" y="1530984"/>
          <a:ext cx="9875520" cy="4709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1713">
                  <a:extLst>
                    <a:ext uri="{9D8B030D-6E8A-4147-A177-3AD203B41FA5}">
                      <a16:colId xmlns:a16="http://schemas.microsoft.com/office/drawing/2014/main" val="1235793775"/>
                    </a:ext>
                  </a:extLst>
                </a:gridCol>
                <a:gridCol w="1272733">
                  <a:extLst>
                    <a:ext uri="{9D8B030D-6E8A-4147-A177-3AD203B41FA5}">
                      <a16:colId xmlns:a16="http://schemas.microsoft.com/office/drawing/2014/main" val="27030600"/>
                    </a:ext>
                  </a:extLst>
                </a:gridCol>
                <a:gridCol w="2858808">
                  <a:extLst>
                    <a:ext uri="{9D8B030D-6E8A-4147-A177-3AD203B41FA5}">
                      <a16:colId xmlns:a16="http://schemas.microsoft.com/office/drawing/2014/main" val="1298813245"/>
                    </a:ext>
                  </a:extLst>
                </a:gridCol>
                <a:gridCol w="2434659">
                  <a:extLst>
                    <a:ext uri="{9D8B030D-6E8A-4147-A177-3AD203B41FA5}">
                      <a16:colId xmlns:a16="http://schemas.microsoft.com/office/drawing/2014/main" val="1303191455"/>
                    </a:ext>
                  </a:extLst>
                </a:gridCol>
                <a:gridCol w="1564533">
                  <a:extLst>
                    <a:ext uri="{9D8B030D-6E8A-4147-A177-3AD203B41FA5}">
                      <a16:colId xmlns:a16="http://schemas.microsoft.com/office/drawing/2014/main" val="4033235523"/>
                    </a:ext>
                  </a:extLst>
                </a:gridCol>
                <a:gridCol w="973074">
                  <a:extLst>
                    <a:ext uri="{9D8B030D-6E8A-4147-A177-3AD203B41FA5}">
                      <a16:colId xmlns:a16="http://schemas.microsoft.com/office/drawing/2014/main" val="312884404"/>
                    </a:ext>
                  </a:extLst>
                </a:gridCol>
              </a:tblGrid>
              <a:tr h="697485">
                <a:tc>
                  <a:txBody>
                    <a:bodyPr/>
                    <a:lstStyle/>
                    <a:p>
                      <a:pPr algn="just"/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Case ID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Output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Result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685047"/>
                  </a:ext>
                </a:extLst>
              </a:tr>
              <a:tr h="697485">
                <a:tc>
                  <a:txBody>
                    <a:bodyPr/>
                    <a:lstStyle/>
                    <a:p>
                      <a:pPr algn="just"/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Voice: User says "Gas" (synonym for right)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maps "gas" to "right" and triggers </a:t>
                      </a:r>
                      <a:r>
                        <a:rPr lang="en-US" sz="1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keyDown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'right' is held down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  <a:p>
                      <a:pPr algn="just">
                        <a:buNone/>
                      </a:pP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4314784"/>
                  </a:ext>
                </a:extLst>
              </a:tr>
              <a:tr h="1120203">
                <a:tc>
                  <a:txBody>
                    <a:bodyPr/>
                    <a:lstStyle/>
                    <a:p>
                      <a:pPr algn="just"/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Combined: Running main.py and selecting Option 2 (Racing Gesture)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Opens GG_2.py and activates webcam window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Webcam stream opens and overlays landmarks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  <a:p>
                      <a:pPr algn="just">
                        <a:buNone/>
                      </a:pP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5418353"/>
                  </a:ext>
                </a:extLst>
              </a:tr>
              <a:tr h="1120203"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TC-06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Gameplay: Playing "Hill Climb" using Voice Mode 2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Speaking "Gas", "Brake", "Stop" while game is 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 accelerates, brakes, and stops correctly</a:t>
                      </a:r>
                      <a:endParaRPr 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</a:p>
                    <a:p>
                      <a:pPr algn="just">
                        <a:buNone/>
                      </a:pP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069882"/>
                  </a:ext>
                </a:extLst>
              </a:tr>
            </a:tbl>
          </a:graphicData>
        </a:graphic>
      </p:graphicFrame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570F874A-EE6A-0641-B8E1-DF61EA6FF89D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60870" y="6546766"/>
            <a:ext cx="2804160" cy="161583"/>
          </a:xfrm>
        </p:spPr>
        <p:txBody>
          <a:bodyPr/>
          <a:lstStyle/>
          <a:p>
            <a:fld id="{6DC02F44-EA89-48FA-B53B-E062AF0590A2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DBCEA50-9EFB-7B3E-32A0-3D3D05ABDC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54256" y="6571615"/>
            <a:ext cx="323343" cy="169747"/>
          </a:xfrm>
        </p:spPr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15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961294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DEA106-F6DF-0DDF-6905-B6D70F8A7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C60939D-5250-A031-04A7-6308EDB4207B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2C4A2C13-ACFD-EAF7-710B-EA865B2D334B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568AF26-8058-66B4-8E61-6FD117E9ACD9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1801BF8A-0D33-11D7-BE07-B7BBD744201B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B1AA092B-A232-8E0B-760B-24870F510853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011EBF90-E2B6-0C96-3012-6FD1B0D4F91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DA7F235B-D080-779A-061B-6742BE760EBA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5CBB7362-C634-8AC5-3D1F-689B17E1CE9F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CC4A80-BFFA-E7F0-83DD-1505EEB924AD}"/>
              </a:ext>
            </a:extLst>
          </p:cNvPr>
          <p:cNvSpPr txBox="1"/>
          <p:nvPr/>
        </p:nvSpPr>
        <p:spPr>
          <a:xfrm>
            <a:off x="1173480" y="937260"/>
            <a:ext cx="8731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CFC909D-87EE-8F2E-174E-5D5007577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376992"/>
              </p:ext>
            </p:extLst>
          </p:nvPr>
        </p:nvGraphicFramePr>
        <p:xfrm>
          <a:off x="1173480" y="1890869"/>
          <a:ext cx="5151120" cy="19467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2263">
                  <a:extLst>
                    <a:ext uri="{9D8B030D-6E8A-4147-A177-3AD203B41FA5}">
                      <a16:colId xmlns:a16="http://schemas.microsoft.com/office/drawing/2014/main" val="1804052276"/>
                    </a:ext>
                  </a:extLst>
                </a:gridCol>
                <a:gridCol w="1222952">
                  <a:extLst>
                    <a:ext uri="{9D8B030D-6E8A-4147-A177-3AD203B41FA5}">
                      <a16:colId xmlns:a16="http://schemas.microsoft.com/office/drawing/2014/main" val="1302563739"/>
                    </a:ext>
                  </a:extLst>
                </a:gridCol>
                <a:gridCol w="1155011">
                  <a:extLst>
                    <a:ext uri="{9D8B030D-6E8A-4147-A177-3AD203B41FA5}">
                      <a16:colId xmlns:a16="http://schemas.microsoft.com/office/drawing/2014/main" val="220544571"/>
                    </a:ext>
                  </a:extLst>
                </a:gridCol>
                <a:gridCol w="1290894">
                  <a:extLst>
                    <a:ext uri="{9D8B030D-6E8A-4147-A177-3AD203B41FA5}">
                      <a16:colId xmlns:a16="http://schemas.microsoft.com/office/drawing/2014/main" val="3798920074"/>
                    </a:ext>
                  </a:extLst>
                </a:gridCol>
              </a:tblGrid>
              <a:tr h="60565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Gesture 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Attempts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Successful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514422"/>
                  </a:ext>
                </a:extLst>
              </a:tr>
              <a:tr h="2850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 (Index)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96%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6879107"/>
                  </a:ext>
                </a:extLst>
              </a:tr>
              <a:tr h="2850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 (Thumb)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94%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056962"/>
                  </a:ext>
                </a:extLst>
              </a:tr>
              <a:tr h="2850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98%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9166442"/>
                  </a:ext>
                </a:extLst>
              </a:tr>
              <a:tr h="2850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144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96.0%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88813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D5A35A-B2DA-1F4F-922D-21E89B14712D}"/>
              </a:ext>
            </a:extLst>
          </p:cNvPr>
          <p:cNvSpPr txBox="1"/>
          <p:nvPr/>
        </p:nvSpPr>
        <p:spPr>
          <a:xfrm>
            <a:off x="6495794" y="1895612"/>
            <a:ext cx="5151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 Control Accuracy (Sample Size: 50)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5D47C5-F96F-5A87-1943-79569208EABA}"/>
              </a:ext>
            </a:extLst>
          </p:cNvPr>
          <p:cNvSpPr txBox="1"/>
          <p:nvPr/>
        </p:nvSpPr>
        <p:spPr>
          <a:xfrm>
            <a:off x="1156970" y="4206478"/>
            <a:ext cx="4937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Control Accuracy (Sample Size: 50)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1DB06A2-0BFD-D6B0-AB41-FE52D8B74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149950"/>
              </p:ext>
            </p:extLst>
          </p:nvPr>
        </p:nvGraphicFramePr>
        <p:xfrm>
          <a:off x="6516893" y="3818572"/>
          <a:ext cx="5511800" cy="2407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40550319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828722699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74607936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349821806"/>
                    </a:ext>
                  </a:extLst>
                </a:gridCol>
              </a:tblGrid>
              <a:tr h="36205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Voice 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Attempts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Successful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5223106"/>
                  </a:ext>
                </a:extLst>
              </a:tr>
              <a:tr h="36205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"Gas" / "Right"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90%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4493628"/>
                  </a:ext>
                </a:extLst>
              </a:tr>
              <a:tr h="36205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"Jump" / "Up"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92%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369350"/>
                  </a:ext>
                </a:extLst>
              </a:tr>
              <a:tr h="20960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"Stop"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4207478"/>
                  </a:ext>
                </a:extLst>
              </a:tr>
              <a:tr h="20960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141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94.0%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684303"/>
                  </a:ext>
                </a:extLst>
              </a:tr>
            </a:tbl>
          </a:graphicData>
        </a:graphic>
      </p:graphicFrame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EC70C43-F5D7-B251-FBF3-4078FF639EE6}"/>
              </a:ext>
            </a:extLst>
          </p:cNvPr>
          <p:cNvCxnSpPr>
            <a:cxnSpLocks/>
            <a:stCxn id="10" idx="2"/>
            <a:endCxn id="6" idx="3"/>
          </p:cNvCxnSpPr>
          <p:nvPr/>
        </p:nvCxnSpPr>
        <p:spPr>
          <a:xfrm rot="5400000">
            <a:off x="7413710" y="1206612"/>
            <a:ext cx="568534" cy="27467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802AEF7-F2E5-6F38-FE11-1168021FF529}"/>
              </a:ext>
            </a:extLst>
          </p:cNvPr>
          <p:cNvCxnSpPr>
            <a:cxnSpLocks/>
            <a:stCxn id="11" idx="2"/>
            <a:endCxn id="17" idx="1"/>
          </p:cNvCxnSpPr>
          <p:nvPr/>
        </p:nvCxnSpPr>
        <p:spPr>
          <a:xfrm rot="16200000" flipH="1">
            <a:off x="4863399" y="3369038"/>
            <a:ext cx="415944" cy="28910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52C4058A-314E-D7CD-5F82-3AD838FA3C4B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58732" y="6526299"/>
            <a:ext cx="2804160" cy="161583"/>
          </a:xfrm>
        </p:spPr>
        <p:txBody>
          <a:bodyPr/>
          <a:lstStyle/>
          <a:p>
            <a:fld id="{D8B21211-084C-4625-BD51-F9905F05A06D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FAB278A1-8690-B678-6D23-91EEA23DB5F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54256" y="6526299"/>
            <a:ext cx="399543" cy="215063"/>
          </a:xfrm>
        </p:spPr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16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432573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ED11A-2490-5B9A-AEB0-5EA53558F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414E4D49-6E1F-92DB-EA38-E280260614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4496" y="574470"/>
            <a:ext cx="6719697" cy="1134670"/>
          </a:xfrm>
          <a:prstGeom prst="rect">
            <a:avLst/>
          </a:prstGeom>
        </p:spPr>
        <p:txBody>
          <a:bodyPr vert="horz" wrap="square" lIns="0" tIns="636016" rIns="0" bIns="0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0A8107AD-CF4E-A594-50A1-54378F15EB15}"/>
              </a:ext>
            </a:extLst>
          </p:cNvPr>
          <p:cNvSpPr txBox="1"/>
          <p:nvPr/>
        </p:nvSpPr>
        <p:spPr>
          <a:xfrm>
            <a:off x="4431919" y="6445326"/>
            <a:ext cx="3303904" cy="28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955"/>
              </a:lnSpc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endParaRPr sz="900" dirty="0">
              <a:latin typeface="Calibri"/>
              <a:cs typeface="Calibri"/>
            </a:endParaRPr>
          </a:p>
          <a:p>
            <a:pPr marL="6985" algn="ctr">
              <a:lnSpc>
                <a:spcPct val="100000"/>
              </a:lnSpc>
              <a:spcBef>
                <a:spcPts val="6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 dirty="0">
              <a:latin typeface="Calibri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DD7211-055B-E263-D29E-47A27A47D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201805"/>
              </p:ext>
            </p:extLst>
          </p:nvPr>
        </p:nvGraphicFramePr>
        <p:xfrm>
          <a:off x="1174496" y="2542311"/>
          <a:ext cx="8127999" cy="3063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27980658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7215819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775529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Latency (ms)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898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Gesture (MediaPipe)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 Capture + Landmark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~45 ms</a:t>
                      </a:r>
                      <a:endParaRPr lang="en-IN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54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Voice (</a:t>
                      </a:r>
                      <a:r>
                        <a:rPr lang="en-IN" sz="19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Vosk</a:t>
                      </a:r>
                      <a:r>
                        <a:rPr lang="en-IN" sz="1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Audio Buffer + Text Decoding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~250 ms</a:t>
                      </a:r>
                      <a:endParaRPr lang="en-IN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961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 Trigger</a:t>
                      </a:r>
                      <a:endParaRPr lang="en-IN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Logic to PyAutoGUI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~5 ms</a:t>
                      </a:r>
                      <a:endParaRPr lang="en-IN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194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System Delay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to Game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~50ms (Gesture) / ~255ms (Voice)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3204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B9FCF50-A8E6-036A-4644-90B8F0729BF7}"/>
              </a:ext>
            </a:extLst>
          </p:cNvPr>
          <p:cNvSpPr txBox="1"/>
          <p:nvPr/>
        </p:nvSpPr>
        <p:spPr>
          <a:xfrm>
            <a:off x="1174496" y="1876290"/>
            <a:ext cx="5378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Latency (Response Time)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E20EA5F-D51A-41E4-5E99-61E2DDA91BE7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74496" y="6562573"/>
            <a:ext cx="2804160" cy="161583"/>
          </a:xfrm>
        </p:spPr>
        <p:txBody>
          <a:bodyPr/>
          <a:lstStyle/>
          <a:p>
            <a:fld id="{EF7BD9FA-9C37-4FDB-AD40-01700759E448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CD6ED9-DF31-F777-6080-BAB991A81F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54256" y="6579779"/>
            <a:ext cx="399543" cy="161583"/>
          </a:xfrm>
        </p:spPr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17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49971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DF5B7D73-E89F-8F3B-28FB-F64571D23B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4496" y="574470"/>
            <a:ext cx="6719697" cy="1134670"/>
          </a:xfrm>
          <a:prstGeom prst="rect">
            <a:avLst/>
          </a:prstGeom>
        </p:spPr>
        <p:txBody>
          <a:bodyPr vert="horz" wrap="square" lIns="0" tIns="636016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3200" spc="-40" dirty="0">
                <a:latin typeface="Times New Roman"/>
                <a:cs typeface="Times New Roman"/>
              </a:rPr>
              <a:t>Demonstration</a:t>
            </a:r>
            <a:r>
              <a:rPr sz="3200" spc="-25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2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Prototype</a:t>
            </a: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A8B0FC5F-8CB0-2EC3-9D6A-98738E6FB346}"/>
              </a:ext>
            </a:extLst>
          </p:cNvPr>
          <p:cNvSpPr txBox="1"/>
          <p:nvPr/>
        </p:nvSpPr>
        <p:spPr>
          <a:xfrm>
            <a:off x="4431919" y="6445326"/>
            <a:ext cx="3303904" cy="28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955"/>
              </a:lnSpc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endParaRPr sz="900" dirty="0">
              <a:latin typeface="Calibri"/>
              <a:cs typeface="Calibri"/>
            </a:endParaRPr>
          </a:p>
          <a:p>
            <a:pPr marL="6985" algn="ctr">
              <a:lnSpc>
                <a:spcPct val="100000"/>
              </a:lnSpc>
              <a:spcBef>
                <a:spcPts val="6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 dirty="0">
              <a:latin typeface="Calibri"/>
              <a:cs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BEB037E-5660-D113-EE9F-B74EA1623C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12" t="3576" r="34291" b="17307"/>
          <a:stretch/>
        </p:blipFill>
        <p:spPr>
          <a:xfrm>
            <a:off x="1174496" y="1780486"/>
            <a:ext cx="4540504" cy="45176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0EA8846-3E49-E6E4-96D5-B40E566576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1780486"/>
            <a:ext cx="5312917" cy="37338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CDEB9D-7A66-DE2E-3A2D-B00FFB27D7D0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74496" y="6576771"/>
            <a:ext cx="2804160" cy="161583"/>
          </a:xfrm>
        </p:spPr>
        <p:txBody>
          <a:bodyPr/>
          <a:lstStyle/>
          <a:p>
            <a:fld id="{BB62288F-68E6-4C72-9DB7-C30615126973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B07CE-9FAE-18CC-51AF-E70A974616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54256" y="6576771"/>
            <a:ext cx="399543" cy="164591"/>
          </a:xfrm>
        </p:spPr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18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869295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08DB30E-96F8-D1F8-3009-A05699121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C0FA543-40D5-1E01-6A0A-2E112A836A53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82D5C717-7F7B-6AB0-FB3F-9CB3565B6CFA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28CD15D-717F-3AE3-1E39-7F33231AE05A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05EF1D2B-2EC5-2FFE-64F2-5E0B557A4B95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1D15FB94-B52B-CE73-03D1-D40C83A83A76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930CD6FD-4781-EDCF-5089-51E2624E99B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626CFEF9-197B-E62F-2924-E6470C1247AE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F9F30865-A5F0-B943-CD4C-E5BD84EEBE8A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EF6021-D515-F69F-F9ED-AD2CDF0CC799}"/>
              </a:ext>
            </a:extLst>
          </p:cNvPr>
          <p:cNvSpPr txBox="1"/>
          <p:nvPr/>
        </p:nvSpPr>
        <p:spPr>
          <a:xfrm>
            <a:off x="1152969" y="1671921"/>
            <a:ext cx="9857994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1265"/>
              </a:spcBef>
              <a:buFont typeface="Wingdings" panose="05000000000000000000" pitchFamily="2" charset="2"/>
              <a:buChar char="Ø"/>
              <a:tabLst>
                <a:tab pos="149860" algn="l"/>
              </a:tabLst>
            </a:pPr>
            <a:r>
              <a:rPr lang="en-I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IN" sz="2400" spc="-3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IN" sz="2400" spc="-3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gesture</a:t>
            </a:r>
            <a:r>
              <a:rPr lang="en-IN" sz="2400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algn="just">
              <a:lnSpc>
                <a:spcPct val="100000"/>
              </a:lnSpc>
              <a:spcBef>
                <a:spcPts val="1165"/>
              </a:spcBef>
              <a:buFont typeface="Wingdings" panose="05000000000000000000" pitchFamily="2" charset="2"/>
              <a:buChar char="Ø"/>
              <a:tabLst>
                <a:tab pos="165100" algn="l"/>
              </a:tabLst>
            </a:pPr>
            <a:r>
              <a:rPr lang="en-I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r>
              <a:rPr lang="en-IN" sz="2400" spc="-7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robustness</a:t>
            </a:r>
            <a:r>
              <a:rPr lang="en-IN" sz="2400" spc="-7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lang="en-IN" sz="2400" spc="-6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IN" sz="2400" spc="-6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algn="just">
              <a:lnSpc>
                <a:spcPct val="100000"/>
              </a:lnSpc>
              <a:spcBef>
                <a:spcPts val="1155"/>
              </a:spcBef>
              <a:buFont typeface="Wingdings" panose="05000000000000000000" pitchFamily="2" charset="2"/>
              <a:buChar char="Ø"/>
              <a:tabLst>
                <a:tab pos="165100" algn="l"/>
              </a:tabLst>
            </a:pPr>
            <a:r>
              <a:rPr lang="en-I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</a:t>
            </a:r>
            <a:r>
              <a:rPr lang="en-IN" sz="2400" spc="-5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lang="en-IN" sz="2400" spc="-4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n-IN" sz="2400" spc="-3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algn="just">
              <a:lnSpc>
                <a:spcPct val="100000"/>
              </a:lnSpc>
              <a:spcBef>
                <a:spcPts val="1165"/>
              </a:spcBef>
              <a:buFont typeface="Wingdings" panose="05000000000000000000" pitchFamily="2" charset="2"/>
              <a:buChar char="Ø"/>
              <a:tabLst>
                <a:tab pos="159385" algn="l"/>
              </a:tabLst>
            </a:pPr>
            <a:r>
              <a:rPr lang="en-I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IN" sz="2400" spc="-4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</a:t>
            </a:r>
            <a:r>
              <a:rPr lang="en-IN" sz="2400" spc="-4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algn="just">
              <a:lnSpc>
                <a:spcPct val="100000"/>
              </a:lnSpc>
              <a:spcBef>
                <a:spcPts val="1165"/>
              </a:spcBef>
              <a:buFont typeface="Wingdings" panose="05000000000000000000" pitchFamily="2" charset="2"/>
              <a:buChar char="Ø"/>
              <a:tabLst>
                <a:tab pos="159385" algn="l"/>
              </a:tabLst>
            </a:pPr>
            <a:r>
              <a:rPr lang="en-I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r>
              <a:rPr lang="en-IN" sz="2400" spc="-7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</a:t>
            </a:r>
            <a:r>
              <a:rPr lang="en-IN" sz="2400" spc="-8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cancellation</a:t>
            </a:r>
          </a:p>
          <a:p>
            <a:pPr marL="355600" indent="-342900" algn="just">
              <a:lnSpc>
                <a:spcPct val="100000"/>
              </a:lnSpc>
              <a:spcBef>
                <a:spcPts val="1165"/>
              </a:spcBef>
              <a:buFont typeface="Wingdings" panose="05000000000000000000" pitchFamily="2" charset="2"/>
              <a:buChar char="Ø"/>
              <a:tabLst>
                <a:tab pos="15938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plan to create a website for our project in the future(graphical user interface)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878B18-C397-4DE8-26D9-7AC1175EA5F7}"/>
              </a:ext>
            </a:extLst>
          </p:cNvPr>
          <p:cNvSpPr txBox="1"/>
          <p:nvPr/>
        </p:nvSpPr>
        <p:spPr>
          <a:xfrm>
            <a:off x="1173480" y="937260"/>
            <a:ext cx="8731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744A7265-B978-9A8E-E084-BBDC6DBF8A79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70175" y="6508957"/>
            <a:ext cx="2804160" cy="161583"/>
          </a:xfrm>
        </p:spPr>
        <p:txBody>
          <a:bodyPr/>
          <a:lstStyle/>
          <a:p>
            <a:fld id="{3C9D9B9A-C84E-4714-B362-0182F8FB188E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A8E2710-0E0F-5CEB-B46F-5D02E64B01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54256" y="6571615"/>
            <a:ext cx="323343" cy="169747"/>
          </a:xfrm>
        </p:spPr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19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788272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45A2FFA-A620-3C72-25D1-4A789CC5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D286EAB-9EED-6EDA-13FF-FA48128B050D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1C055FA7-0F6F-C642-3263-63C2F81678EC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26C8DD3-6219-7D54-8187-EA999C20BBA6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D1FD5DF8-FB97-C07B-6233-91A449DC8608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D5B20C37-74CA-3AE6-2C6C-4462F3155C01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32199789-1D43-54BD-A574-D70966C5465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FBB53711-5771-30F7-C3BC-515F089AC130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42B0359B-8FA3-95EA-300B-6A1218D7099F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AA1557-D318-75C9-1BB3-D3F1363CB97C}"/>
              </a:ext>
            </a:extLst>
          </p:cNvPr>
          <p:cNvSpPr txBox="1"/>
          <p:nvPr/>
        </p:nvSpPr>
        <p:spPr>
          <a:xfrm>
            <a:off x="1152969" y="1627637"/>
            <a:ext cx="9857994" cy="297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1265"/>
              </a:spcBef>
              <a:buFont typeface="Wingdings" panose="05000000000000000000" pitchFamily="2" charset="2"/>
              <a:buChar char="Ø"/>
              <a:tabLst>
                <a:tab pos="149860" algn="l"/>
              </a:tabLst>
            </a:pP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gesture and voice for powerful touchless interaction.</a:t>
            </a:r>
          </a:p>
          <a:p>
            <a:pPr marL="355600" indent="-342900" algn="just">
              <a:lnSpc>
                <a:spcPct val="100000"/>
              </a:lnSpc>
              <a:spcBef>
                <a:spcPts val="1265"/>
              </a:spcBef>
              <a:buFont typeface="Wingdings" panose="05000000000000000000" pitchFamily="2" charset="2"/>
              <a:buChar char="Ø"/>
              <a:tabLst>
                <a:tab pos="149860" algn="l"/>
              </a:tabLst>
            </a:pP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works in real-time using gesture-based and voice –based for gaming with Python.</a:t>
            </a:r>
          </a:p>
          <a:p>
            <a:pPr marL="355600" indent="-342900" algn="just">
              <a:lnSpc>
                <a:spcPct val="100000"/>
              </a:lnSpc>
              <a:spcBef>
                <a:spcPts val="1265"/>
              </a:spcBef>
              <a:buFont typeface="Wingdings" panose="05000000000000000000" pitchFamily="2" charset="2"/>
              <a:buChar char="Ø"/>
              <a:tabLst>
                <a:tab pos="149860" algn="l"/>
              </a:tabLst>
            </a:pP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interaction become fast and easy for users.</a:t>
            </a:r>
          </a:p>
          <a:p>
            <a:pPr marL="355600" indent="-342900" algn="just">
              <a:lnSpc>
                <a:spcPct val="100000"/>
              </a:lnSpc>
              <a:spcBef>
                <a:spcPts val="1265"/>
              </a:spcBef>
              <a:buFont typeface="Wingdings" panose="05000000000000000000" pitchFamily="2" charset="2"/>
              <a:buChar char="Ø"/>
              <a:tabLst>
                <a:tab pos="149860" algn="l"/>
              </a:tabLst>
            </a:pP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shows strong potential for gaming, automation, and accessibility.</a:t>
            </a:r>
          </a:p>
          <a:p>
            <a:pPr marL="355600" indent="-342900" algn="just">
              <a:lnSpc>
                <a:spcPct val="100000"/>
              </a:lnSpc>
              <a:spcBef>
                <a:spcPts val="1265"/>
              </a:spcBef>
              <a:buFont typeface="Wingdings" panose="05000000000000000000" pitchFamily="2" charset="2"/>
              <a:buChar char="Ø"/>
              <a:tabLst>
                <a:tab pos="149860" algn="l"/>
              </a:tabLst>
            </a:pPr>
            <a:r>
              <a:rPr lang="en-US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is simple, effective, and user-friendly.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67A174-1B3D-167B-CE31-A4D47CB8E8F7}"/>
              </a:ext>
            </a:extLst>
          </p:cNvPr>
          <p:cNvSpPr txBox="1"/>
          <p:nvPr/>
        </p:nvSpPr>
        <p:spPr>
          <a:xfrm>
            <a:off x="1173480" y="937260"/>
            <a:ext cx="8731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6C00EE1-8DB0-F971-D415-81F478EBDE53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52969" y="6546766"/>
            <a:ext cx="2804160" cy="161583"/>
          </a:xfrm>
        </p:spPr>
        <p:txBody>
          <a:bodyPr/>
          <a:lstStyle/>
          <a:p>
            <a:fld id="{90245937-F1F8-433C-8A14-8733FAF77332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37BD6E5-0673-6BA0-9198-4B341CDDB4D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54256" y="6546767"/>
            <a:ext cx="399543" cy="194596"/>
          </a:xfrm>
        </p:spPr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20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546101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EA55F27-7D57-77C5-3737-EA95C7318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D2BAA5C-8B79-057C-DEBA-A5AED3EB0AC7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0892805C-047C-2B9C-54B9-939F9816E664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197FB1D-AB9D-6A45-B15D-E034AB2FD3E8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FC3249D0-6CD8-48D5-FFCD-A0E846311960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58E38063-03B2-579D-AA41-B3EA6D646C74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0BC0C533-1780-8512-B303-39A5D9D98C1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2641A8C-24C9-6907-841C-AB5191938065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3F350BC8-B8B0-0EDC-302E-E89EAB06E49D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8B9258-79E7-8C9A-21FE-7CA52386BD86}"/>
              </a:ext>
            </a:extLst>
          </p:cNvPr>
          <p:cNvSpPr txBox="1"/>
          <p:nvPr/>
        </p:nvSpPr>
        <p:spPr>
          <a:xfrm>
            <a:off x="1173480" y="937260"/>
            <a:ext cx="8731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AF9AAC5-8AFE-075B-E26C-74282C11F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480" y="1667653"/>
            <a:ext cx="987552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M E et al, "Continuous hand gesture recognition: Benchmarks and methods," Compute Vis Image Underset, 2025</a:t>
            </a:r>
          </a:p>
          <a:p>
            <a:pPr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[2] A B et al, "Investigating the Use of Vosk for Speech to Text in Interactive Gaming Applications," Preprints.org, 2025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S. S. et al., "Gesture Based System Control Using Opencv and Mediapipe,"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IJRPR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6, 2024.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[4] MediaPipe Hands, Google Developers. Available: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developers.google.com/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mediapipe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[5] Vosk Offline Speech Recognition API. Available: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alphacephei.com/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vosk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[6] PyAutoGUI Documentation. Available: pyautogui.readthedocs.io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BD412417-36E8-A3D1-4D69-1B3F1E3705C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56970" y="6546766"/>
            <a:ext cx="2804160" cy="161583"/>
          </a:xfrm>
        </p:spPr>
        <p:txBody>
          <a:bodyPr/>
          <a:lstStyle/>
          <a:p>
            <a:fld id="{40E0B516-7139-45F9-9E07-E13948DE2343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21E496E-76BC-5355-A12D-D6FB6DDE22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54256" y="6546767"/>
            <a:ext cx="399543" cy="194596"/>
          </a:xfrm>
        </p:spPr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21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4155594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3BBF3A-5A8C-DEEF-8395-9B57352DE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DE20584-D520-3003-6944-F1EFA534B8A4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6BFAF098-1543-FA61-191A-8C76A2F686B0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2466513-96A6-9519-72F3-D77E6FB6D189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BC5B63DD-B642-DA29-7AC7-0DDB5667B023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4427BEF0-9B39-AC22-38AE-7F72A82BF6C3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40828BD5-B61B-50CE-2761-F677A08E809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0CED0267-9982-D034-CEDF-2FECBFAFA0D4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BEB81734-3B0E-F478-F053-3184DFE029FB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F630D0-28C1-3412-4813-679D9391D707}"/>
              </a:ext>
            </a:extLst>
          </p:cNvPr>
          <p:cNvSpPr txBox="1"/>
          <p:nvPr/>
        </p:nvSpPr>
        <p:spPr>
          <a:xfrm>
            <a:off x="1173480" y="937260"/>
            <a:ext cx="8731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en-IN" sz="3200" spc="-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517F1F4D-605C-487C-3884-23DA4654AB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21479" y="2572004"/>
            <a:ext cx="3810000" cy="2714625"/>
          </a:xfrm>
          <a:prstGeom prst="rect">
            <a:avLst/>
          </a:prstGeom>
        </p:spPr>
      </p:pic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FBA1B6B3-3457-59AB-37BB-F112AAEA3D1A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209676" y="6546766"/>
            <a:ext cx="2804160" cy="161583"/>
          </a:xfrm>
        </p:spPr>
        <p:txBody>
          <a:bodyPr/>
          <a:lstStyle/>
          <a:p>
            <a:fld id="{CBEB5F83-6098-4C7D-A0E1-163953512CD3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1D11504-BABD-8EC1-28DD-A5512C65F4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54256" y="6546767"/>
            <a:ext cx="247143" cy="194596"/>
          </a:xfrm>
        </p:spPr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22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547364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D148F5-849E-BEE5-7C18-2D52CF176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BE2CCB8-89F4-DFED-2520-9C7FF0ABC03F}"/>
              </a:ext>
            </a:extLst>
          </p:cNvPr>
          <p:cNvGrpSpPr/>
          <p:nvPr/>
        </p:nvGrpSpPr>
        <p:grpSpPr>
          <a:xfrm>
            <a:off x="0" y="6333616"/>
            <a:ext cx="12192000" cy="524510"/>
            <a:chOff x="0" y="6333616"/>
            <a:chExt cx="12192000" cy="52451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640F7F28-756C-3245-93AE-37299E5984A9}"/>
                </a:ext>
              </a:extLst>
            </p:cNvPr>
            <p:cNvSpPr/>
            <p:nvPr/>
          </p:nvSpPr>
          <p:spPr>
            <a:xfrm>
              <a:off x="3046" y="6400673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8952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952" y="457199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DF519FC-E22D-29A9-9043-52698FF02F65}"/>
                </a:ext>
              </a:extLst>
            </p:cNvPr>
            <p:cNvSpPr/>
            <p:nvPr/>
          </p:nvSpPr>
          <p:spPr>
            <a:xfrm>
              <a:off x="0" y="6333616"/>
              <a:ext cx="12189460" cy="64135"/>
            </a:xfrm>
            <a:custGeom>
              <a:avLst/>
              <a:gdLst/>
              <a:ahLst/>
              <a:cxnLst/>
              <a:rect l="l" t="t" r="r" b="b"/>
              <a:pathLst>
                <a:path w="12189460" h="64135">
                  <a:moveTo>
                    <a:pt x="12188952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2188952" y="64008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812E5379-358F-CE29-C2AD-6DDDD745E552}"/>
              </a:ext>
            </a:extLst>
          </p:cNvPr>
          <p:cNvSpPr/>
          <p:nvPr/>
        </p:nvSpPr>
        <p:spPr>
          <a:xfrm>
            <a:off x="1156970" y="1471104"/>
            <a:ext cx="9875520" cy="7620"/>
          </a:xfrm>
          <a:custGeom>
            <a:avLst/>
            <a:gdLst/>
            <a:ahLst/>
            <a:cxnLst/>
            <a:rect l="l" t="t" r="r" b="b"/>
            <a:pathLst>
              <a:path w="9875520" h="7620">
                <a:moveTo>
                  <a:pt x="9875520" y="0"/>
                </a:moveTo>
                <a:lnTo>
                  <a:pt x="0" y="0"/>
                </a:lnTo>
                <a:lnTo>
                  <a:pt x="0" y="7620"/>
                </a:lnTo>
                <a:lnTo>
                  <a:pt x="9875520" y="7620"/>
                </a:lnTo>
                <a:lnTo>
                  <a:pt x="987552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88161BE4-CAA4-DF5B-2B22-36DCA3595EEE}"/>
              </a:ext>
            </a:extLst>
          </p:cNvPr>
          <p:cNvGrpSpPr/>
          <p:nvPr/>
        </p:nvGrpSpPr>
        <p:grpSpPr>
          <a:xfrm>
            <a:off x="760" y="634"/>
            <a:ext cx="12190730" cy="6856730"/>
            <a:chOff x="760" y="634"/>
            <a:chExt cx="12190730" cy="68567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DFCFEB72-A600-BF14-2A5B-7066EC63449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0" y="286385"/>
              <a:ext cx="1207514" cy="1085215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5020ABA5-AF16-50DB-DA92-0EECCB82B611}"/>
                </a:ext>
              </a:extLst>
            </p:cNvPr>
            <p:cNvSpPr/>
            <p:nvPr/>
          </p:nvSpPr>
          <p:spPr>
            <a:xfrm>
              <a:off x="760" y="634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6856476"/>
                  </a:moveTo>
                  <a:lnTo>
                    <a:pt x="12190476" y="6856476"/>
                  </a:lnTo>
                  <a:lnTo>
                    <a:pt x="12190476" y="0"/>
                  </a:lnTo>
                  <a:lnTo>
                    <a:pt x="0" y="0"/>
                  </a:lnTo>
                  <a:lnTo>
                    <a:pt x="0" y="685647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2DF54CDC-4B26-D318-59C5-655770927EDA}"/>
              </a:ext>
            </a:extLst>
          </p:cNvPr>
          <p:cNvSpPr txBox="1"/>
          <p:nvPr/>
        </p:nvSpPr>
        <p:spPr>
          <a:xfrm>
            <a:off x="4431919" y="6482283"/>
            <a:ext cx="3300095" cy="29718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54380" marR="5080" indent="-742315">
              <a:lnSpc>
                <a:spcPts val="1060"/>
              </a:lnSpc>
              <a:spcBef>
                <a:spcPts val="15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INTELLIGENCE</a:t>
            </a:r>
            <a:r>
              <a:rPr sz="9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AND MACHINE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9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ACHARYA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9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0" name="object 2">
            <a:extLst>
              <a:ext uri="{FF2B5EF4-FFF2-40B4-BE49-F238E27FC236}">
                <a16:creationId xmlns:a16="http://schemas.microsoft.com/office/drawing/2014/main" id="{4DF41E02-2712-B486-0F21-7C1711132CF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18659" y="3047606"/>
            <a:ext cx="2597658" cy="891933"/>
          </a:xfrm>
          <a:prstGeom prst="rect">
            <a:avLst/>
          </a:prstGeom>
        </p:spPr>
      </p:pic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DDA20D2C-C149-7E6B-EC1E-638B6D5F4A4E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64344" y="6548481"/>
            <a:ext cx="2804160" cy="161583"/>
          </a:xfrm>
        </p:spPr>
        <p:txBody>
          <a:bodyPr/>
          <a:lstStyle/>
          <a:p>
            <a:fld id="{E25F9B93-D620-46C1-A065-19271EEB8B8C}" type="datetime4">
              <a:rPr lang="en-US" sz="105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21, 2025</a:t>
            </a:fld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515FA32-0A80-49AF-7D1E-AD7ADD0DE8F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0954256" y="6548481"/>
            <a:ext cx="399543" cy="192881"/>
          </a:xfrm>
        </p:spPr>
        <p:txBody>
          <a:bodyPr/>
          <a:lstStyle/>
          <a:p>
            <a:pPr marL="106680">
              <a:lnSpc>
                <a:spcPts val="1140"/>
              </a:lnSpc>
            </a:pPr>
            <a:fld id="{81D60167-4931-47E6-BA6A-407CBD079E47}" type="slidenum">
              <a:rPr lang="en-IN" spc="-50" smtClean="0"/>
              <a:t>23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859706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2338</TotalTime>
  <Words>1617</Words>
  <Application>Microsoft Office PowerPoint</Application>
  <PresentationFormat>Widescreen</PresentationFormat>
  <Paragraphs>290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Calibri</vt:lpstr>
      <vt:lpstr>Calibri Light</vt:lpstr>
      <vt:lpstr>Times New Roman</vt:lpstr>
      <vt:lpstr>Wingdings</vt:lpstr>
      <vt:lpstr>Office Theme</vt:lpstr>
      <vt:lpstr>VISVESVARAYA TECHNOLOGICAL UNIVERSITY Belagavi - 590 018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&amp; Discussion</vt:lpstr>
      <vt:lpstr>Demonstration of Prototype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VISVESVARAYA TECHNOLOGICAL UNIVERSITY Belagavi - 590 018</dc:title>
  <cp:lastModifiedBy>D manju</cp:lastModifiedBy>
  <cp:revision>56</cp:revision>
  <dcterms:created xsi:type="dcterms:W3CDTF">2025-11-17T03:42:03Z</dcterms:created>
  <dcterms:modified xsi:type="dcterms:W3CDTF">2025-11-21T08:08:26Z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2025-11-17T00:00:00Z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2025-11-17T00:00:00Z</vt:filetime>
  </property>
  <property fmtid="{D5CDD505-2E9C-101B-9397-08002B2CF9AE}" pid="5" name="Producer">
    <vt:lpwstr>Microsoft® Word 2021</vt:lpwstr>
  </property>
</Properties>
</file>